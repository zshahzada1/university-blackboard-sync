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57A173-566D-4E90-B7C7-BA38B5E9A1C0}" v="8" dt="2026-03-20T09:48:47.3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06" d="100"/>
          <a:sy n="106" d="100"/>
        </p:scale>
        <p:origin x="63"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haib Shahzada (student)" userId="adc578d5-9cf6-49ad-a4b5-e03d60512f03" providerId="ADAL" clId="{2429DE73-197E-4EA7-B5C7-7E45893DEF2C}"/>
    <pc:docChg chg="undo custSel modSld">
      <pc:chgData name="Zohaib Shahzada (student)" userId="adc578d5-9cf6-49ad-a4b5-e03d60512f03" providerId="ADAL" clId="{2429DE73-197E-4EA7-B5C7-7E45893DEF2C}" dt="2026-03-20T09:48:44.023" v="701"/>
      <pc:docMkLst>
        <pc:docMk/>
      </pc:docMkLst>
      <pc:sldChg chg="addSp delSp modSp mod setBg">
        <pc:chgData name="Zohaib Shahzada (student)" userId="adc578d5-9cf6-49ad-a4b5-e03d60512f03" providerId="ADAL" clId="{2429DE73-197E-4EA7-B5C7-7E45893DEF2C}" dt="2026-03-20T09:20:06.216" v="53" actId="5793"/>
        <pc:sldMkLst>
          <pc:docMk/>
          <pc:sldMk cId="0" sldId="256"/>
        </pc:sldMkLst>
        <pc:spChg chg="del">
          <ac:chgData name="Zohaib Shahzada (student)" userId="adc578d5-9cf6-49ad-a4b5-e03d60512f03" providerId="ADAL" clId="{2429DE73-197E-4EA7-B5C7-7E45893DEF2C}" dt="2026-03-20T07:45:12.654" v="0" actId="478"/>
          <ac:spMkLst>
            <pc:docMk/>
            <pc:sldMk cId="0" sldId="256"/>
            <ac:spMk id="2" creationId="{00000000-0000-0000-0000-000000000000}"/>
          </ac:spMkLst>
        </pc:spChg>
        <pc:spChg chg="mod">
          <ac:chgData name="Zohaib Shahzada (student)" userId="adc578d5-9cf6-49ad-a4b5-e03d60512f03" providerId="ADAL" clId="{2429DE73-197E-4EA7-B5C7-7E45893DEF2C}" dt="2026-03-20T09:16:33.600" v="20" actId="26606"/>
          <ac:spMkLst>
            <pc:docMk/>
            <pc:sldMk cId="0" sldId="256"/>
            <ac:spMk id="3" creationId="{00000000-0000-0000-0000-000000000000}"/>
          </ac:spMkLst>
        </pc:spChg>
        <pc:spChg chg="mod">
          <ac:chgData name="Zohaib Shahzada (student)" userId="adc578d5-9cf6-49ad-a4b5-e03d60512f03" providerId="ADAL" clId="{2429DE73-197E-4EA7-B5C7-7E45893DEF2C}" dt="2026-03-20T09:16:33.600" v="20" actId="26606"/>
          <ac:spMkLst>
            <pc:docMk/>
            <pc:sldMk cId="0" sldId="256"/>
            <ac:spMk id="4" creationId="{00000000-0000-0000-0000-000000000000}"/>
          </ac:spMkLst>
        </pc:spChg>
        <pc:spChg chg="mod ord">
          <ac:chgData name="Zohaib Shahzada (student)" userId="adc578d5-9cf6-49ad-a4b5-e03d60512f03" providerId="ADAL" clId="{2429DE73-197E-4EA7-B5C7-7E45893DEF2C}" dt="2026-03-20T09:16:33.600" v="20" actId="26606"/>
          <ac:spMkLst>
            <pc:docMk/>
            <pc:sldMk cId="0" sldId="256"/>
            <ac:spMk id="5" creationId="{00000000-0000-0000-0000-000000000000}"/>
          </ac:spMkLst>
        </pc:spChg>
        <pc:spChg chg="mod">
          <ac:chgData name="Zohaib Shahzada (student)" userId="adc578d5-9cf6-49ad-a4b5-e03d60512f03" providerId="ADAL" clId="{2429DE73-197E-4EA7-B5C7-7E45893DEF2C}" dt="2026-03-20T09:20:06.216" v="53" actId="5793"/>
          <ac:spMkLst>
            <pc:docMk/>
            <pc:sldMk cId="0" sldId="256"/>
            <ac:spMk id="6" creationId="{00000000-0000-0000-0000-000000000000}"/>
          </ac:spMkLst>
        </pc:spChg>
        <pc:spChg chg="add del">
          <ac:chgData name="Zohaib Shahzada (student)" userId="adc578d5-9cf6-49ad-a4b5-e03d60512f03" providerId="ADAL" clId="{2429DE73-197E-4EA7-B5C7-7E45893DEF2C}" dt="2026-03-20T09:16:33.600" v="20" actId="26606"/>
          <ac:spMkLst>
            <pc:docMk/>
            <pc:sldMk cId="0" sldId="256"/>
            <ac:spMk id="11" creationId="{C27D7A02-907B-496F-BA7E-AA3780733CA7}"/>
          </ac:spMkLst>
        </pc:spChg>
        <pc:spChg chg="add del">
          <ac:chgData name="Zohaib Shahzada (student)" userId="adc578d5-9cf6-49ad-a4b5-e03d60512f03" providerId="ADAL" clId="{2429DE73-197E-4EA7-B5C7-7E45893DEF2C}" dt="2026-03-20T09:16:33.600" v="20" actId="26606"/>
          <ac:spMkLst>
            <pc:docMk/>
            <pc:sldMk cId="0" sldId="256"/>
            <ac:spMk id="13" creationId="{0FBA5268-0AE7-4CAD-9537-D0EB09E76406}"/>
          </ac:spMkLst>
        </pc:spChg>
        <pc:spChg chg="add del">
          <ac:chgData name="Zohaib Shahzada (student)" userId="adc578d5-9cf6-49ad-a4b5-e03d60512f03" providerId="ADAL" clId="{2429DE73-197E-4EA7-B5C7-7E45893DEF2C}" dt="2026-03-20T09:16:33.600" v="20" actId="26606"/>
          <ac:spMkLst>
            <pc:docMk/>
            <pc:sldMk cId="0" sldId="256"/>
            <ac:spMk id="15" creationId="{088D065B-39DA-4077-B9CF-E489CE4C0169}"/>
          </ac:spMkLst>
        </pc:spChg>
      </pc:sldChg>
      <pc:sldChg chg="addSp delSp modSp mod">
        <pc:chgData name="Zohaib Shahzada (student)" userId="adc578d5-9cf6-49ad-a4b5-e03d60512f03" providerId="ADAL" clId="{2429DE73-197E-4EA7-B5C7-7E45893DEF2C}" dt="2026-03-20T09:23:18.575" v="136" actId="1076"/>
        <pc:sldMkLst>
          <pc:docMk/>
          <pc:sldMk cId="0" sldId="257"/>
        </pc:sldMkLst>
        <pc:spChg chg="mod">
          <ac:chgData name="Zohaib Shahzada (student)" userId="adc578d5-9cf6-49ad-a4b5-e03d60512f03" providerId="ADAL" clId="{2429DE73-197E-4EA7-B5C7-7E45893DEF2C}" dt="2026-03-20T09:21:54.190" v="82" actId="20577"/>
          <ac:spMkLst>
            <pc:docMk/>
            <pc:sldMk cId="0" sldId="257"/>
            <ac:spMk id="4" creationId="{00000000-0000-0000-0000-000000000000}"/>
          </ac:spMkLst>
        </pc:spChg>
        <pc:spChg chg="del mod">
          <ac:chgData name="Zohaib Shahzada (student)" userId="adc578d5-9cf6-49ad-a4b5-e03d60512f03" providerId="ADAL" clId="{2429DE73-197E-4EA7-B5C7-7E45893DEF2C}" dt="2026-03-20T09:23:13.913" v="135" actId="478"/>
          <ac:spMkLst>
            <pc:docMk/>
            <pc:sldMk cId="0" sldId="257"/>
            <ac:spMk id="9" creationId="{00000000-0000-0000-0000-000000000000}"/>
          </ac:spMkLst>
        </pc:spChg>
        <pc:spChg chg="add mod">
          <ac:chgData name="Zohaib Shahzada (student)" userId="adc578d5-9cf6-49ad-a4b5-e03d60512f03" providerId="ADAL" clId="{2429DE73-197E-4EA7-B5C7-7E45893DEF2C}" dt="2026-03-20T09:23:18.575" v="136" actId="1076"/>
          <ac:spMkLst>
            <pc:docMk/>
            <pc:sldMk cId="0" sldId="257"/>
            <ac:spMk id="11" creationId="{B7C797B6-5165-2601-CB52-7F33111615AB}"/>
          </ac:spMkLst>
        </pc:spChg>
      </pc:sldChg>
      <pc:sldChg chg="delSp modSp mod modNotesTx">
        <pc:chgData name="Zohaib Shahzada (student)" userId="adc578d5-9cf6-49ad-a4b5-e03d60512f03" providerId="ADAL" clId="{2429DE73-197E-4EA7-B5C7-7E45893DEF2C}" dt="2026-03-20T09:47:43.371" v="696" actId="20577"/>
        <pc:sldMkLst>
          <pc:docMk/>
          <pc:sldMk cId="0" sldId="258"/>
        </pc:sldMkLst>
        <pc:spChg chg="mod">
          <ac:chgData name="Zohaib Shahzada (student)" userId="adc578d5-9cf6-49ad-a4b5-e03d60512f03" providerId="ADAL" clId="{2429DE73-197E-4EA7-B5C7-7E45893DEF2C}" dt="2026-03-20T09:47:32.890" v="680" actId="20577"/>
          <ac:spMkLst>
            <pc:docMk/>
            <pc:sldMk cId="0" sldId="258"/>
            <ac:spMk id="4" creationId="{00000000-0000-0000-0000-000000000000}"/>
          </ac:spMkLst>
        </pc:spChg>
        <pc:spChg chg="del">
          <ac:chgData name="Zohaib Shahzada (student)" userId="adc578d5-9cf6-49ad-a4b5-e03d60512f03" providerId="ADAL" clId="{2429DE73-197E-4EA7-B5C7-7E45893DEF2C}" dt="2026-03-20T09:26:17.150" v="312" actId="478"/>
          <ac:spMkLst>
            <pc:docMk/>
            <pc:sldMk cId="0" sldId="258"/>
            <ac:spMk id="7" creationId="{00000000-0000-0000-0000-000000000000}"/>
          </ac:spMkLst>
        </pc:spChg>
      </pc:sldChg>
      <pc:sldChg chg="modSp mod">
        <pc:chgData name="Zohaib Shahzada (student)" userId="adc578d5-9cf6-49ad-a4b5-e03d60512f03" providerId="ADAL" clId="{2429DE73-197E-4EA7-B5C7-7E45893DEF2C}" dt="2026-03-20T09:32:29.444" v="365" actId="20577"/>
        <pc:sldMkLst>
          <pc:docMk/>
          <pc:sldMk cId="0" sldId="259"/>
        </pc:sldMkLst>
        <pc:spChg chg="mod">
          <ac:chgData name="Zohaib Shahzada (student)" userId="adc578d5-9cf6-49ad-a4b5-e03d60512f03" providerId="ADAL" clId="{2429DE73-197E-4EA7-B5C7-7E45893DEF2C}" dt="2026-03-20T09:32:29.444" v="365" actId="20577"/>
          <ac:spMkLst>
            <pc:docMk/>
            <pc:sldMk cId="0" sldId="259"/>
            <ac:spMk id="6" creationId="{00000000-0000-0000-0000-000000000000}"/>
          </ac:spMkLst>
        </pc:spChg>
      </pc:sldChg>
      <pc:sldChg chg="addSp delSp modSp mod modNotesTx">
        <pc:chgData name="Zohaib Shahzada (student)" userId="adc578d5-9cf6-49ad-a4b5-e03d60512f03" providerId="ADAL" clId="{2429DE73-197E-4EA7-B5C7-7E45893DEF2C}" dt="2026-03-20T09:47:05.474" v="676" actId="20577"/>
        <pc:sldMkLst>
          <pc:docMk/>
          <pc:sldMk cId="0" sldId="260"/>
        </pc:sldMkLst>
        <pc:spChg chg="add del">
          <ac:chgData name="Zohaib Shahzada (student)" userId="adc578d5-9cf6-49ad-a4b5-e03d60512f03" providerId="ADAL" clId="{2429DE73-197E-4EA7-B5C7-7E45893DEF2C}" dt="2026-03-20T09:15:25.646" v="15" actId="478"/>
          <ac:spMkLst>
            <pc:docMk/>
            <pc:sldMk cId="0" sldId="260"/>
            <ac:spMk id="3" creationId="{00000000-0000-0000-0000-000000000000}"/>
          </ac:spMkLst>
        </pc:spChg>
        <pc:spChg chg="mod">
          <ac:chgData name="Zohaib Shahzada (student)" userId="adc578d5-9cf6-49ad-a4b5-e03d60512f03" providerId="ADAL" clId="{2429DE73-197E-4EA7-B5C7-7E45893DEF2C}" dt="2026-03-20T09:33:32.580" v="371" actId="12"/>
          <ac:spMkLst>
            <pc:docMk/>
            <pc:sldMk cId="0" sldId="260"/>
            <ac:spMk id="5" creationId="{00000000-0000-0000-0000-000000000000}"/>
          </ac:spMkLst>
        </pc:spChg>
        <pc:spChg chg="mod">
          <ac:chgData name="Zohaib Shahzada (student)" userId="adc578d5-9cf6-49ad-a4b5-e03d60512f03" providerId="ADAL" clId="{2429DE73-197E-4EA7-B5C7-7E45893DEF2C}" dt="2026-03-20T09:34:17.075" v="400" actId="12"/>
          <ac:spMkLst>
            <pc:docMk/>
            <pc:sldMk cId="0" sldId="260"/>
            <ac:spMk id="8" creationId="{00000000-0000-0000-0000-000000000000}"/>
          </ac:spMkLst>
        </pc:spChg>
        <pc:spChg chg="mod">
          <ac:chgData name="Zohaib Shahzada (student)" userId="adc578d5-9cf6-49ad-a4b5-e03d60512f03" providerId="ADAL" clId="{2429DE73-197E-4EA7-B5C7-7E45893DEF2C}" dt="2026-03-20T09:34:47.741" v="408" actId="12"/>
          <ac:spMkLst>
            <pc:docMk/>
            <pc:sldMk cId="0" sldId="260"/>
            <ac:spMk id="11" creationId="{00000000-0000-0000-0000-000000000000}"/>
          </ac:spMkLst>
        </pc:spChg>
      </pc:sldChg>
      <pc:sldChg chg="modSp mod modNotesTx">
        <pc:chgData name="Zohaib Shahzada (student)" userId="adc578d5-9cf6-49ad-a4b5-e03d60512f03" providerId="ADAL" clId="{2429DE73-197E-4EA7-B5C7-7E45893DEF2C}" dt="2026-03-20T09:46:34.649" v="602" actId="20577"/>
        <pc:sldMkLst>
          <pc:docMk/>
          <pc:sldMk cId="0" sldId="261"/>
        </pc:sldMkLst>
        <pc:spChg chg="mod">
          <ac:chgData name="Zohaib Shahzada (student)" userId="adc578d5-9cf6-49ad-a4b5-e03d60512f03" providerId="ADAL" clId="{2429DE73-197E-4EA7-B5C7-7E45893DEF2C}" dt="2026-03-20T09:35:04.983" v="412" actId="20577"/>
          <ac:spMkLst>
            <pc:docMk/>
            <pc:sldMk cId="0" sldId="261"/>
            <ac:spMk id="4" creationId="{00000000-0000-0000-0000-000000000000}"/>
          </ac:spMkLst>
        </pc:spChg>
        <pc:spChg chg="mod">
          <ac:chgData name="Zohaib Shahzada (student)" userId="adc578d5-9cf6-49ad-a4b5-e03d60512f03" providerId="ADAL" clId="{2429DE73-197E-4EA7-B5C7-7E45893DEF2C}" dt="2026-03-20T09:37:24.492" v="444" actId="20577"/>
          <ac:spMkLst>
            <pc:docMk/>
            <pc:sldMk cId="0" sldId="261"/>
            <ac:spMk id="6" creationId="{00000000-0000-0000-0000-000000000000}"/>
          </ac:spMkLst>
        </pc:spChg>
      </pc:sldChg>
      <pc:sldChg chg="modSp mod modNotesTx">
        <pc:chgData name="Zohaib Shahzada (student)" userId="adc578d5-9cf6-49ad-a4b5-e03d60512f03" providerId="ADAL" clId="{2429DE73-197E-4EA7-B5C7-7E45893DEF2C}" dt="2026-03-20T09:45:45.157" v="568" actId="20577"/>
        <pc:sldMkLst>
          <pc:docMk/>
          <pc:sldMk cId="0" sldId="262"/>
        </pc:sldMkLst>
        <pc:spChg chg="mod">
          <ac:chgData name="Zohaib Shahzada (student)" userId="adc578d5-9cf6-49ad-a4b5-e03d60512f03" providerId="ADAL" clId="{2429DE73-197E-4EA7-B5C7-7E45893DEF2C}" dt="2026-03-20T09:40:25.616" v="478" actId="20577"/>
          <ac:spMkLst>
            <pc:docMk/>
            <pc:sldMk cId="0" sldId="262"/>
            <ac:spMk id="6" creationId="{00000000-0000-0000-0000-000000000000}"/>
          </ac:spMkLst>
        </pc:spChg>
      </pc:sldChg>
      <pc:sldChg chg="modSp mod">
        <pc:chgData name="Zohaib Shahzada (student)" userId="adc578d5-9cf6-49ad-a4b5-e03d60512f03" providerId="ADAL" clId="{2429DE73-197E-4EA7-B5C7-7E45893DEF2C}" dt="2026-03-20T09:42:37.891" v="532" actId="20577"/>
        <pc:sldMkLst>
          <pc:docMk/>
          <pc:sldMk cId="0" sldId="263"/>
        </pc:sldMkLst>
        <pc:spChg chg="mod">
          <ac:chgData name="Zohaib Shahzada (student)" userId="adc578d5-9cf6-49ad-a4b5-e03d60512f03" providerId="ADAL" clId="{2429DE73-197E-4EA7-B5C7-7E45893DEF2C}" dt="2026-03-20T09:40:46.414" v="485" actId="20577"/>
          <ac:spMkLst>
            <pc:docMk/>
            <pc:sldMk cId="0" sldId="263"/>
            <ac:spMk id="4" creationId="{00000000-0000-0000-0000-000000000000}"/>
          </ac:spMkLst>
        </pc:spChg>
        <pc:graphicFrameChg chg="modGraphic">
          <ac:chgData name="Zohaib Shahzada (student)" userId="adc578d5-9cf6-49ad-a4b5-e03d60512f03" providerId="ADAL" clId="{2429DE73-197E-4EA7-B5C7-7E45893DEF2C}" dt="2026-03-20T09:42:37.891" v="532" actId="20577"/>
          <ac:graphicFrameMkLst>
            <pc:docMk/>
            <pc:sldMk cId="0" sldId="263"/>
            <ac:graphicFrameMk id="9" creationId="{00000000-0000-0000-0000-000000000000}"/>
          </ac:graphicFrameMkLst>
        </pc:graphicFrameChg>
      </pc:sldChg>
      <pc:sldChg chg="modSp mod setBg">
        <pc:chgData name="Zohaib Shahzada (student)" userId="adc578d5-9cf6-49ad-a4b5-e03d60512f03" providerId="ADAL" clId="{2429DE73-197E-4EA7-B5C7-7E45893DEF2C}" dt="2026-03-20T09:48:44.023" v="701"/>
        <pc:sldMkLst>
          <pc:docMk/>
          <pc:sldMk cId="0" sldId="264"/>
        </pc:sldMkLst>
        <pc:spChg chg="mod">
          <ac:chgData name="Zohaib Shahzada (student)" userId="adc578d5-9cf6-49ad-a4b5-e03d60512f03" providerId="ADAL" clId="{2429DE73-197E-4EA7-B5C7-7E45893DEF2C}" dt="2026-03-20T09:42:58.459" v="533" actId="2711"/>
          <ac:spMkLst>
            <pc:docMk/>
            <pc:sldMk cId="0" sldId="264"/>
            <ac:spMk id="3" creationId="{00000000-0000-0000-0000-000000000000}"/>
          </ac:spMkLst>
        </pc:spChg>
        <pc:spChg chg="mod">
          <ac:chgData name="Zohaib Shahzada (student)" userId="adc578d5-9cf6-49ad-a4b5-e03d60512f03" providerId="ADAL" clId="{2429DE73-197E-4EA7-B5C7-7E45893DEF2C}" dt="2026-03-20T09:43:04.358" v="540" actId="20577"/>
          <ac:spMkLst>
            <pc:docMk/>
            <pc:sldMk cId="0" sldId="264"/>
            <ac:spMk id="4" creationId="{00000000-0000-0000-0000-000000000000}"/>
          </ac:spMkLst>
        </pc:spChg>
      </pc:sldChg>
      <pc:sldChg chg="addSp delSp modSp mod setBg modNotesTx">
        <pc:chgData name="Zohaib Shahzada (student)" userId="adc578d5-9cf6-49ad-a4b5-e03d60512f03" providerId="ADAL" clId="{2429DE73-197E-4EA7-B5C7-7E45893DEF2C}" dt="2026-03-20T09:46:03.050" v="594" actId="5793"/>
        <pc:sldMkLst>
          <pc:docMk/>
          <pc:sldMk cId="0" sldId="265"/>
        </pc:sldMkLst>
        <pc:spChg chg="mod">
          <ac:chgData name="Zohaib Shahzada (student)" userId="adc578d5-9cf6-49ad-a4b5-e03d60512f03" providerId="ADAL" clId="{2429DE73-197E-4EA7-B5C7-7E45893DEF2C}" dt="2026-03-20T09:16:24.860" v="17" actId="26606"/>
          <ac:spMkLst>
            <pc:docMk/>
            <pc:sldMk cId="0" sldId="265"/>
            <ac:spMk id="2" creationId="{00000000-0000-0000-0000-000000000000}"/>
          </ac:spMkLst>
        </pc:spChg>
        <pc:spChg chg="mod">
          <ac:chgData name="Zohaib Shahzada (student)" userId="adc578d5-9cf6-49ad-a4b5-e03d60512f03" providerId="ADAL" clId="{2429DE73-197E-4EA7-B5C7-7E45893DEF2C}" dt="2026-03-20T09:16:24.860" v="17" actId="26606"/>
          <ac:spMkLst>
            <pc:docMk/>
            <pc:sldMk cId="0" sldId="265"/>
            <ac:spMk id="3" creationId="{00000000-0000-0000-0000-000000000000}"/>
          </ac:spMkLst>
        </pc:spChg>
        <pc:spChg chg="add del">
          <ac:chgData name="Zohaib Shahzada (student)" userId="adc578d5-9cf6-49ad-a4b5-e03d60512f03" providerId="ADAL" clId="{2429DE73-197E-4EA7-B5C7-7E45893DEF2C}" dt="2026-03-20T09:16:24.860" v="17" actId="26606"/>
          <ac:spMkLst>
            <pc:docMk/>
            <pc:sldMk cId="0" sldId="265"/>
            <ac:spMk id="8" creationId="{CB299CAB-C506-454B-90FC-4065728297D3}"/>
          </ac:spMkLst>
        </pc:spChg>
        <pc:spChg chg="add del">
          <ac:chgData name="Zohaib Shahzada (student)" userId="adc578d5-9cf6-49ad-a4b5-e03d60512f03" providerId="ADAL" clId="{2429DE73-197E-4EA7-B5C7-7E45893DEF2C}" dt="2026-03-20T09:16:24.860" v="17" actId="26606"/>
          <ac:spMkLst>
            <pc:docMk/>
            <pc:sldMk cId="0" sldId="265"/>
            <ac:spMk id="10" creationId="{C8D99311-F254-40F1-8AB5-EE3E7B9B6872}"/>
          </ac:spMkLst>
        </pc:spChg>
        <pc:spChg chg="add del">
          <ac:chgData name="Zohaib Shahzada (student)" userId="adc578d5-9cf6-49ad-a4b5-e03d60512f03" providerId="ADAL" clId="{2429DE73-197E-4EA7-B5C7-7E45893DEF2C}" dt="2026-03-20T09:16:24.860" v="17" actId="26606"/>
          <ac:spMkLst>
            <pc:docMk/>
            <pc:sldMk cId="0" sldId="265"/>
            <ac:spMk id="12" creationId="{7D89E3CB-00ED-4691-9F0F-F23EA356470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7673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My name is [name] from Hartley &amp; Associates. Greenfield asked us to look at a situation that came up in early January and give the Board a straight read on what it means legally, ethically, and practically.
We have no stake in whether you win the Avondale contract. That's the point.
This session covers: what happened, the legal picture, three honest options, and what we think you should do. We'll try to keep it direct.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quick. The Board wants to get to the substance.
The framing that matters: David did the right thing by not responding and calling this meeting. That's worth saying out loud — it's a good instinct and it gives the company options.
The 'question' on the right: read it out. Let it land. Then move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rush this slide. The Board needs to truly </a:t>
            </a:r>
            <a:r>
              <a:rPr lang="en-US" dirty="0" err="1"/>
              <a:t>understandbefore</a:t>
            </a:r>
            <a:r>
              <a:rPr lang="en-US" dirty="0"/>
              <a:t> you get to the options.
On the offer: Richard is an active evaluator on a live tender. This isn't vague insider knowledge — it's specific scoring data and a competitor's confidential submission. That distinction matters legally.
On the stakes: acknowledge the financial pressure honestly. The £2.4m investment is real. Losing the contract is a real cost. The analysis that follows explains why accepting the offer would make things significantly worse, not better.
On the community: this isn't just about Greenfield's exposure. The health centre and housing development serve people with genuine need. A corrupted procurement process harms them directly.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may not grasp the Bribery Act's reach. It's broader than most people assume.
Section 1: the offer of employment doesn't need to be accepted. Making the offer is already an offence.
Section 2: this is the one that catches Greenfield. Receiving the insider data, if it's done in a context where there's an implicit understanding of what it's for, can constitute acceptance of an advantage.
Section 7: even if David personally declines, the company still faces exposure unless it has demonstrable 'adequate procedures' in place. Reporting and documenting this is part of building that defence.
Procurement Act: debarment from public procurement is the really damaging consequence. Greenfield's entire growth strategy depends on public sector contracts. That exposure dwarfs the value of the Avondale tender.
The italic line at the bottom is the key takeaway — read it 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all three options straight but don't signal the answer yet. The ethical analysis comes next.
On Option A: acknowledge the appeal honestly. The contract is significant, the jobs are real, the investment has been made. Then be clear: the legal risk here is existential. Not a compliance technicality — a criminal offence that could imprison individuals and destroy the company's ability to operate in its main growth market.
On Option B: this is the 'comfort option.' It feels like doing the right thing without the awkwardness of reporting a friend. But it leaves the corrupt process running. If Richard approaches another bidder, or if this surfaces another way, Greenfield's silence becomes evidence of something worse than it is. It also contradicts everything the company says it stands for.
On Option C: the short-term cost is real. Don't minimise it. But the long-term position is far stronger. The ethical analysis on the next two slides builds the case for it from two different directions.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Utilitarianism was developed by Bentham and elaborated by Mill. The core idea: right actions are those that produce the greatest good for the greatest number. Applied here, that means counting everyone (not just Greenfield).
Option A: the benefits are real but narrow and short-term. The costs — if this surfaces — are enormous and widespread. The net utility calculation is clearly negative.
Option C: the cost is losing one contract. The benefits are distributed across Greenfield's future, its employees' long-term security, the community, and the integrity of the procurement process. Net utility is positive.
The tension to name explicitly: a strict utilitarian might calculate differently if the probability of detection were very low. That's a genuine weakness of the theory here. Flag it — it shows the analysis is honest, not just a rubber stamp for the obvious answer. Then use it to set up the deontology slide: deontology doesn't have that problem.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Kant's deontological ethics holds that actions are right or wrong in themselves and not because of their consequences. This is what makes it fundamentally different from utilitarianism.
Test 1 — universalisability: ask the Board out loud — 'If every company in every public tender accepted insider information when it was offered, what happens to public procurement?' The answer is obvious. It destroys. The rule fails the universalisability test. Accepting is categorically wrong — not probably wrong, not wrong-if-caught. Wrong.
Test 2 — humanity: Richard's offer instrumentalises the Council, competing bidders, and the community. Kant's second formulation is clear: people must be treated as ends. Accepting makes Greenfield complicit in treating them as instruments.
Greenfield's mission: 'building with integrity' matters here. It's not branding — it's a self-imposed ethical commitment. A deontologist would say that makes it binding.
Carroll (1991) is a useful reference: his CSR pyramid puts ethical responsibilities above economic ones. Companies are obliged to do what's right, not just what's profitable.
Close with the contrast to utilitarianism: deontology doesn't need probability estimates. Even if the risk of getting caught were zero, the answer is the same. That's why having both frameworks land in the same place matters — the recommendation isn't dependent on a single ethical 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recommendation clearly, without hedging.
The framing that matters: two ethical frameworks got to the same answer by different routes. That's significant — it means the recommendation doesn't depend on picking the right theory.
Freeman's (1984) stakeholder approach adds a third lens: every major stakeholder group is better served by Option C than by the alternatives.
Walk through the table. A few worth pausing on:
Employees: don't conflate this contract with long-term security. Eighty-five jobs on one project are not worth destroying the company's ability to win public contracts.
Community: a health centre for people with real health inequalities deserves an honest process. That's worth saying directly.
Richard: this is the hardest part of the conversation. Acknowledge it. But staying quiet doesn't help him — if his conduct surfaces through another route, Greenfield's silence looks worse than it is. The most genuinely helpful thing is early disclosure, and if the relationship allows it, letting him know before the report is made.
Practical next steps:
1. David responds to Richard in writing — decline clearly, create a paper trail.
2. Legal counsel engaged on disclosure obligations.
3. Report to the Council's monitoring officer.
4. Internal reminder to relevant staff on procurement ethics — builds the s.7 'adequate procedures' defence.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conviction. This isn't a close call.
The title line says it plainly. Greenfield's competitive edge in public sector work is its reputation. Compromising that reputation for one contract isn't pragmatic. It's self-defeating.
The logical chain:
Accepting means criminal liability, debarment, and a reputation that can't be rebuilt.
Staying quiet is legally safer but leaves the problem running and contradicts everything the company says it stands for.
Declining and reporting is legally protected, ethically sound, consistent with Greenfield's identity, and in the best interests of every stakeholder that matters.
Four immediate actions:
One — David responds to Richard today, in writing.
Two — legal counsel reviews disclosure obligations.
Three — report to the Council's monitoring officer.
Four — internal comms to relevant staff on procurement ethics policy.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Harvard format references.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319"/>
        </a:solidFill>
        <a:effectLst/>
      </p:bgPr>
    </p:bg>
    <p:spTree>
      <p:nvGrpSpPr>
        <p:cNvPr id="1" name=""/>
        <p:cNvGrpSpPr/>
        <p:nvPr/>
      </p:nvGrpSpPr>
      <p:grpSpPr>
        <a:xfrm>
          <a:off x="0" y="0"/>
          <a:ext cx="0" cy="0"/>
          <a:chOff x="0" y="0"/>
          <a:chExt cx="0" cy="0"/>
        </a:xfrm>
      </p:grpSpPr>
      <p:sp>
        <p:nvSpPr>
          <p:cNvPr id="3" name="Text 1"/>
          <p:cNvSpPr/>
          <p:nvPr/>
        </p:nvSpPr>
        <p:spPr>
          <a:xfrm>
            <a:off x="502920" y="960120"/>
            <a:ext cx="8229600" cy="1737360"/>
          </a:xfrm>
          <a:prstGeom prst="rect">
            <a:avLst/>
          </a:prstGeom>
          <a:noFill/>
          <a:ln/>
        </p:spPr>
        <p:txBody>
          <a:bodyPr wrap="square" lIns="0" tIns="0" rIns="0" bIns="0" rtlCol="0" anchor="t"/>
          <a:lstStyle/>
          <a:p>
            <a:pPr marL="0" indent="0" algn="l">
              <a:buNone/>
            </a:pPr>
            <a:r>
              <a:rPr lang="en-US" sz="4200" b="1" dirty="0">
                <a:solidFill>
                  <a:srgbClr val="FFFFFF"/>
                </a:solidFill>
                <a:latin typeface="+mj-lt"/>
                <a:ea typeface="Georgia" pitchFamily="34" charset="-122"/>
                <a:cs typeface="Georgia" pitchFamily="34" charset="-120"/>
              </a:rPr>
              <a:t>Responding to</a:t>
            </a:r>
            <a:endParaRPr lang="en-US" sz="4200" dirty="0">
              <a:latin typeface="+mj-lt"/>
            </a:endParaRPr>
          </a:p>
          <a:p>
            <a:pPr marL="0" indent="0" algn="l">
              <a:buNone/>
            </a:pPr>
            <a:r>
              <a:rPr lang="en-US" sz="4200" b="1" dirty="0">
                <a:solidFill>
                  <a:srgbClr val="FFFFFF"/>
                </a:solidFill>
                <a:latin typeface="+mj-lt"/>
                <a:ea typeface="Georgia" pitchFamily="34" charset="-122"/>
                <a:cs typeface="Georgia" pitchFamily="34" charset="-120"/>
              </a:rPr>
              <a:t>procurement misconduct</a:t>
            </a:r>
            <a:endParaRPr lang="en-US" sz="4200" dirty="0">
              <a:latin typeface="+mj-lt"/>
            </a:endParaRPr>
          </a:p>
        </p:txBody>
      </p:sp>
      <p:sp>
        <p:nvSpPr>
          <p:cNvPr id="4" name="Text 2"/>
          <p:cNvSpPr/>
          <p:nvPr/>
        </p:nvSpPr>
        <p:spPr>
          <a:xfrm>
            <a:off x="502920" y="2788920"/>
            <a:ext cx="8046720" cy="347472"/>
          </a:xfrm>
          <a:prstGeom prst="rect">
            <a:avLst/>
          </a:prstGeom>
          <a:noFill/>
          <a:ln/>
        </p:spPr>
        <p:txBody>
          <a:bodyPr wrap="square" lIns="0" tIns="0" rIns="0" bIns="0" rtlCol="0" anchor="ctr"/>
          <a:lstStyle/>
          <a:p>
            <a:pPr marL="0" indent="0" algn="l">
              <a:buNone/>
            </a:pPr>
            <a:r>
              <a:rPr lang="en-US" sz="1350" dirty="0">
                <a:solidFill>
                  <a:srgbClr val="BF2C1F"/>
                </a:solidFill>
                <a:latin typeface="Calibri" pitchFamily="34" charset="0"/>
                <a:ea typeface="Calibri" pitchFamily="34" charset="-122"/>
                <a:cs typeface="Calibri" pitchFamily="34" charset="-120"/>
              </a:rPr>
              <a:t>Greenfield Construction Ltd · Board advice presentation</a:t>
            </a:r>
            <a:endParaRPr lang="en-US" sz="1350" dirty="0"/>
          </a:p>
        </p:txBody>
      </p:sp>
      <p:sp>
        <p:nvSpPr>
          <p:cNvPr id="5" name="Text 3"/>
          <p:cNvSpPr/>
          <p:nvPr/>
        </p:nvSpPr>
        <p:spPr>
          <a:xfrm>
            <a:off x="502920" y="3182112"/>
            <a:ext cx="8046720" cy="292608"/>
          </a:xfrm>
          <a:prstGeom prst="rect">
            <a:avLst/>
          </a:prstGeom>
          <a:noFill/>
          <a:ln/>
        </p:spPr>
        <p:txBody>
          <a:bodyPr wrap="square" lIns="0" tIns="0" rIns="0" bIns="0" rtlCol="0" anchor="ctr"/>
          <a:lstStyle/>
          <a:p>
            <a:pPr marL="0" indent="0" algn="l">
              <a:buNone/>
            </a:pPr>
            <a:r>
              <a:rPr lang="en-US" sz="1100" dirty="0">
                <a:solidFill>
                  <a:srgbClr val="4A5568"/>
                </a:solidFill>
                <a:latin typeface="Calibri" pitchFamily="34" charset="0"/>
                <a:ea typeface="Calibri" pitchFamily="34" charset="-122"/>
                <a:cs typeface="Calibri" pitchFamily="34" charset="-120"/>
              </a:rPr>
              <a:t>Bribery Act 2010  ·  Procurement Act 2023  ·  Business Ethics</a:t>
            </a:r>
            <a:endParaRPr lang="en-US" sz="1100" dirty="0"/>
          </a:p>
        </p:txBody>
      </p:sp>
      <p:sp>
        <p:nvSpPr>
          <p:cNvPr id="6" name="Text 4"/>
          <p:cNvSpPr/>
          <p:nvPr/>
        </p:nvSpPr>
        <p:spPr>
          <a:xfrm>
            <a:off x="502920" y="4754880"/>
            <a:ext cx="8046720" cy="256032"/>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20</a:t>
            </a:r>
            <a:r>
              <a:rPr lang="en-US" sz="1000" baseline="30000" dirty="0">
                <a:solidFill>
                  <a:srgbClr val="374151"/>
                </a:solidFill>
                <a:latin typeface="Calibri" pitchFamily="34" charset="0"/>
                <a:ea typeface="Calibri" pitchFamily="34" charset="-122"/>
                <a:cs typeface="Calibri" pitchFamily="34" charset="-120"/>
              </a:rPr>
              <a:t>th</a:t>
            </a:r>
            <a:r>
              <a:rPr lang="en-US" sz="1000" dirty="0">
                <a:solidFill>
                  <a:srgbClr val="374151"/>
                </a:solidFill>
                <a:latin typeface="Calibri" pitchFamily="34" charset="0"/>
                <a:ea typeface="Calibri" pitchFamily="34" charset="-122"/>
                <a:cs typeface="Calibri" pitchFamily="34" charset="-120"/>
              </a:rPr>
              <a:t> March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Who we are and why we're here</a:t>
            </a:r>
            <a:endParaRPr lang="en-US" sz="2000" dirty="0"/>
          </a:p>
        </p:txBody>
      </p:sp>
      <p:sp>
        <p:nvSpPr>
          <p:cNvPr id="3" name="Text 1"/>
          <p:cNvSpPr/>
          <p:nvPr/>
        </p:nvSpPr>
        <p:spPr>
          <a:xfrm>
            <a:off x="457200" y="594360"/>
            <a:ext cx="374904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OUR ROLE</a:t>
            </a:r>
            <a:endParaRPr lang="en-US" sz="900" dirty="0"/>
          </a:p>
        </p:txBody>
      </p:sp>
      <p:sp>
        <p:nvSpPr>
          <p:cNvPr id="4" name="Text 2"/>
          <p:cNvSpPr/>
          <p:nvPr/>
        </p:nvSpPr>
        <p:spPr>
          <a:xfrm>
            <a:off x="457200" y="850392"/>
            <a:ext cx="3749040" cy="256032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We're independent ethics/legal advisors. Greenfield brought us in after David received the call from Richard Hale on 6th January.</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Our job is to give the Board a straight read on the options. That means not telling you what you want to hear, and also not softening what's at stake.</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We have no commercial interest in the outcome of the tender.</a:t>
            </a:r>
            <a:endParaRPr lang="en-US" sz="1200" dirty="0"/>
          </a:p>
        </p:txBody>
      </p:sp>
      <p:sp>
        <p:nvSpPr>
          <p:cNvPr id="5" name="Text 3"/>
          <p:cNvSpPr/>
          <p:nvPr/>
        </p:nvSpPr>
        <p:spPr>
          <a:xfrm>
            <a:off x="457200" y="3547872"/>
            <a:ext cx="374904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TODAY'S AGENDA</a:t>
            </a:r>
            <a:endParaRPr lang="en-US" sz="900" dirty="0"/>
          </a:p>
        </p:txBody>
      </p:sp>
      <p:sp>
        <p:nvSpPr>
          <p:cNvPr id="6" name="Text 4"/>
          <p:cNvSpPr/>
          <p:nvPr/>
        </p:nvSpPr>
        <p:spPr>
          <a:xfrm>
            <a:off x="457200" y="3767328"/>
            <a:ext cx="3749040" cy="1325880"/>
          </a:xfrm>
          <a:prstGeom prst="rect">
            <a:avLst/>
          </a:prstGeom>
          <a:noFill/>
          <a:ln/>
        </p:spPr>
        <p:txBody>
          <a:bodyPr wrap="square" lIns="0" tIns="0" rIns="0" bIns="0" rtlCol="0" anchor="t"/>
          <a:lstStyle/>
          <a:p>
            <a:pPr marL="342900" indent="-342900" algn="l">
              <a:lnSpc>
                <a:spcPct val="125000"/>
              </a:lnSpc>
              <a:buSzPct val="100000"/>
              <a:buChar char="•"/>
            </a:pPr>
            <a:r>
              <a:rPr lang="en-US" sz="1200" dirty="0">
                <a:solidFill>
                  <a:srgbClr val="292929"/>
                </a:solidFill>
                <a:latin typeface="Calibri" pitchFamily="34" charset="0"/>
                <a:ea typeface="Calibri" pitchFamily="34" charset="-122"/>
                <a:cs typeface="Calibri" pitchFamily="34" charset="-120"/>
              </a:rPr>
              <a:t>What happened</a:t>
            </a:r>
            <a:endParaRPr lang="en-US" sz="1200" dirty="0"/>
          </a:p>
          <a:p>
            <a:pPr marL="342900" indent="-342900" algn="l">
              <a:lnSpc>
                <a:spcPct val="125000"/>
              </a:lnSpc>
              <a:buSzPct val="100000"/>
              <a:buChar char="•"/>
            </a:pPr>
            <a:r>
              <a:rPr lang="en-US" sz="1200" dirty="0">
                <a:solidFill>
                  <a:srgbClr val="292929"/>
                </a:solidFill>
                <a:latin typeface="Calibri" pitchFamily="34" charset="0"/>
                <a:ea typeface="Calibri" pitchFamily="34" charset="-122"/>
                <a:cs typeface="Calibri" pitchFamily="34" charset="-120"/>
              </a:rPr>
              <a:t>The legal exposure</a:t>
            </a:r>
            <a:endParaRPr lang="en-US" sz="1200" dirty="0"/>
          </a:p>
          <a:p>
            <a:pPr marL="342900" indent="-342900" algn="l">
              <a:lnSpc>
                <a:spcPct val="125000"/>
              </a:lnSpc>
              <a:buSzPct val="100000"/>
              <a:buChar char="•"/>
            </a:pPr>
            <a:r>
              <a:rPr lang="en-US" sz="1200" dirty="0">
                <a:solidFill>
                  <a:srgbClr val="292929"/>
                </a:solidFill>
                <a:latin typeface="Calibri" pitchFamily="34" charset="0"/>
                <a:ea typeface="Calibri" pitchFamily="34" charset="-122"/>
                <a:cs typeface="Calibri" pitchFamily="34" charset="-120"/>
              </a:rPr>
              <a:t>Three options, honestly assessed</a:t>
            </a:r>
            <a:endParaRPr lang="en-US" sz="1200" dirty="0"/>
          </a:p>
          <a:p>
            <a:pPr marL="342900" indent="-342900" algn="l">
              <a:lnSpc>
                <a:spcPct val="125000"/>
              </a:lnSpc>
              <a:buSzPct val="100000"/>
              <a:buChar char="•"/>
            </a:pPr>
            <a:r>
              <a:rPr lang="en-US" sz="1200" dirty="0">
                <a:solidFill>
                  <a:srgbClr val="292929"/>
                </a:solidFill>
                <a:latin typeface="Calibri" pitchFamily="34" charset="0"/>
                <a:ea typeface="Calibri" pitchFamily="34" charset="-122"/>
                <a:cs typeface="Calibri" pitchFamily="34" charset="-120"/>
              </a:rPr>
              <a:t>What we recommend, and why</a:t>
            </a:r>
            <a:endParaRPr lang="en-US" sz="1200" dirty="0"/>
          </a:p>
        </p:txBody>
      </p:sp>
      <p:sp>
        <p:nvSpPr>
          <p:cNvPr id="7" name="Text 5"/>
          <p:cNvSpPr/>
          <p:nvPr/>
        </p:nvSpPr>
        <p:spPr>
          <a:xfrm>
            <a:off x="4754880" y="594360"/>
            <a:ext cx="402336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THE QUESTION</a:t>
            </a:r>
            <a:endParaRPr lang="en-US" sz="900" dirty="0"/>
          </a:p>
        </p:txBody>
      </p:sp>
      <p:sp>
        <p:nvSpPr>
          <p:cNvPr id="8" name="Text 6"/>
          <p:cNvSpPr/>
          <p:nvPr/>
        </p:nvSpPr>
        <p:spPr>
          <a:xfrm>
            <a:off x="4754880" y="850392"/>
            <a:ext cx="4023360" cy="91440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Richard Hale is directly involved in evaluating your live Avondale tender. He has offered confidential scoring data and a competitor's submission in exchange for employing his son.</a:t>
            </a:r>
            <a:endParaRPr lang="en-US" sz="1200" dirty="0"/>
          </a:p>
        </p:txBody>
      </p:sp>
      <p:sp>
        <p:nvSpPr>
          <p:cNvPr id="10" name="Text 8"/>
          <p:cNvSpPr/>
          <p:nvPr/>
        </p:nvSpPr>
        <p:spPr>
          <a:xfrm>
            <a:off x="4754880" y="2468880"/>
            <a:ext cx="4023360" cy="233172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The Board hasn't responded yet. David made the right call in bringing this here before doing anything. That matters, both legally and practically.</a:t>
            </a:r>
            <a:endParaRPr lang="en-US" sz="1200" dirty="0"/>
          </a:p>
        </p:txBody>
      </p:sp>
      <p:sp>
        <p:nvSpPr>
          <p:cNvPr id="11" name="Text 3">
            <a:extLst>
              <a:ext uri="{FF2B5EF4-FFF2-40B4-BE49-F238E27FC236}">
                <a16:creationId xmlns:a16="http://schemas.microsoft.com/office/drawing/2014/main" id="{B7C797B6-5165-2601-CB52-7F33111615AB}"/>
              </a:ext>
            </a:extLst>
          </p:cNvPr>
          <p:cNvSpPr/>
          <p:nvPr/>
        </p:nvSpPr>
        <p:spPr>
          <a:xfrm>
            <a:off x="4754880" y="2171700"/>
            <a:ext cx="402336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Accept, stay quiet, or report it?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What happened</a:t>
            </a:r>
            <a:endParaRPr lang="en-US" sz="2000" dirty="0"/>
          </a:p>
        </p:txBody>
      </p:sp>
      <p:sp>
        <p:nvSpPr>
          <p:cNvPr id="3" name="Text 1"/>
          <p:cNvSpPr/>
          <p:nvPr/>
        </p:nvSpPr>
        <p:spPr>
          <a:xfrm>
            <a:off x="457200" y="594360"/>
            <a:ext cx="384048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WHAT RICHARD OFFERED</a:t>
            </a:r>
            <a:endParaRPr lang="en-US" sz="900" dirty="0"/>
          </a:p>
        </p:txBody>
      </p:sp>
      <p:sp>
        <p:nvSpPr>
          <p:cNvPr id="4" name="Text 2"/>
          <p:cNvSpPr/>
          <p:nvPr/>
        </p:nvSpPr>
        <p:spPr>
          <a:xfrm>
            <a:off x="457200" y="850392"/>
            <a:ext cx="3840480" cy="393192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Richard Hale is a senior quantity surveyor at Avondale County Council. He's been a business contact for years, and the Greenfield siblings consider him a friend. He's also directly involved in evaluating your £18.5m health centre tender.</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On 6 January he called David and informed that Greenfield is currently second. Harmon Developments is ahead on price and has ‘stronger social value commitments. Richard offered to share the full scoring breakdown and Harmon's social value submission. Enough to know exactly what to beat.</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In return: a job for his son. 'A favour between friends…this is just how things work’, were Mr. Hale words.</a:t>
            </a:r>
            <a:endParaRPr lang="en-US" sz="1200" dirty="0"/>
          </a:p>
        </p:txBody>
      </p:sp>
      <p:sp>
        <p:nvSpPr>
          <p:cNvPr id="5" name="Text 3"/>
          <p:cNvSpPr/>
          <p:nvPr/>
        </p:nvSpPr>
        <p:spPr>
          <a:xfrm>
            <a:off x="4754880" y="594360"/>
            <a:ext cx="402336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WHAT'S AT STAKE</a:t>
            </a:r>
            <a:endParaRPr lang="en-US" sz="900" dirty="0"/>
          </a:p>
        </p:txBody>
      </p:sp>
      <p:sp>
        <p:nvSpPr>
          <p:cNvPr id="6" name="Text 4"/>
          <p:cNvSpPr/>
          <p:nvPr/>
        </p:nvSpPr>
        <p:spPr>
          <a:xfrm>
            <a:off x="4754880" y="850392"/>
            <a:ext cx="4023360" cy="214884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This is the largest contract Greenfield has ever pursued. Winning it would sustain 85 jobs over three years, 15 apprenticeships, and mark real progress in the public sector strategy the Board has been building.</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Greenfield also invested £2.4m in new equipment on the expectation of contracts like this one.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The legal picture</a:t>
            </a:r>
            <a:endParaRPr lang="en-US" sz="2000" dirty="0"/>
          </a:p>
        </p:txBody>
      </p:sp>
      <p:sp>
        <p:nvSpPr>
          <p:cNvPr id="3" name="Text 1"/>
          <p:cNvSpPr/>
          <p:nvPr/>
        </p:nvSpPr>
        <p:spPr>
          <a:xfrm>
            <a:off x="457200" y="594360"/>
            <a:ext cx="384048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BRIBERY ACT 2010</a:t>
            </a:r>
            <a:endParaRPr lang="en-US" sz="900" dirty="0"/>
          </a:p>
        </p:txBody>
      </p:sp>
      <p:sp>
        <p:nvSpPr>
          <p:cNvPr id="4" name="Text 2"/>
          <p:cNvSpPr/>
          <p:nvPr/>
        </p:nvSpPr>
        <p:spPr>
          <a:xfrm>
            <a:off x="457200" y="850392"/>
            <a:ext cx="3840480" cy="3337560"/>
          </a:xfrm>
          <a:prstGeom prst="rect">
            <a:avLst/>
          </a:prstGeom>
          <a:noFill/>
          <a:ln/>
        </p:spPr>
        <p:txBody>
          <a:bodyPr wrap="square" lIns="0" tIns="0" rIns="0" bIns="0" rtlCol="0" anchor="t"/>
          <a:lstStyle/>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Section 1: offering an advantage to induce improper conduct is a criminal offence. Offering employment to Richard's son in exchange for tender information qualifies.</a:t>
            </a:r>
            <a:endParaRPr lang="en-US" sz="1100" dirty="0"/>
          </a:p>
          <a:p>
            <a:pPr marL="0" indent="0" algn="l">
              <a:lnSpc>
                <a:spcPct val="115000"/>
              </a:lnSpc>
              <a:buNone/>
            </a:pPr>
            <a:endParaRPr lang="en-US" sz="1100" dirty="0"/>
          </a:p>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Section 2: accepting such an advantage is also an offence. Receiving insider data, even without acting on it, could be enough.</a:t>
            </a:r>
            <a:endParaRPr lang="en-US" sz="1100" dirty="0"/>
          </a:p>
          <a:p>
            <a:pPr marL="0" indent="0" algn="l">
              <a:lnSpc>
                <a:spcPct val="115000"/>
              </a:lnSpc>
              <a:buNone/>
            </a:pPr>
            <a:endParaRPr lang="en-US" sz="1100" dirty="0"/>
          </a:p>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Section 7 is a corporate offence: failing to prevent bribery. That exposure exists regardless of who in the company made the call.</a:t>
            </a:r>
            <a:endParaRPr lang="en-US" sz="1100" dirty="0"/>
          </a:p>
          <a:p>
            <a:pPr marL="0" indent="0" algn="l">
              <a:lnSpc>
                <a:spcPct val="115000"/>
              </a:lnSpc>
              <a:buNone/>
            </a:pPr>
            <a:endParaRPr lang="en-US" sz="1100" dirty="0"/>
          </a:p>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Strict liability. Maximum sentence: 10 years. (HM Government, 2010)</a:t>
            </a:r>
            <a:endParaRPr lang="en-US" sz="1100" dirty="0"/>
          </a:p>
        </p:txBody>
      </p:sp>
      <p:sp>
        <p:nvSpPr>
          <p:cNvPr id="5" name="Text 3"/>
          <p:cNvSpPr/>
          <p:nvPr/>
        </p:nvSpPr>
        <p:spPr>
          <a:xfrm>
            <a:off x="4754880" y="594360"/>
            <a:ext cx="402336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PROCUREMENT ACT 2023</a:t>
            </a:r>
            <a:endParaRPr lang="en-US" sz="900" dirty="0"/>
          </a:p>
        </p:txBody>
      </p:sp>
      <p:sp>
        <p:nvSpPr>
          <p:cNvPr id="6" name="Text 4"/>
          <p:cNvSpPr/>
          <p:nvPr/>
        </p:nvSpPr>
        <p:spPr>
          <a:xfrm>
            <a:off x="4754880" y="850392"/>
            <a:ext cx="4023360" cy="3337560"/>
          </a:xfrm>
          <a:prstGeom prst="rect">
            <a:avLst/>
          </a:prstGeom>
          <a:noFill/>
          <a:ln/>
        </p:spPr>
        <p:txBody>
          <a:bodyPr wrap="square" lIns="0" tIns="0" rIns="0" bIns="0" rtlCol="0" anchor="t"/>
          <a:lstStyle/>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Public contracts require fair, open, transparent competition. Council evaluators sharing confidential information with a bidder is prohibited outright. Accepting it makes Greenfield complicit in that breach.</a:t>
            </a:r>
            <a:endParaRPr lang="en-US" sz="1100" dirty="0"/>
          </a:p>
          <a:p>
            <a:pPr marL="0" indent="0" algn="l">
              <a:lnSpc>
                <a:spcPct val="115000"/>
              </a:lnSpc>
              <a:buNone/>
            </a:pPr>
            <a:endParaRPr lang="en-US" sz="1100" dirty="0"/>
          </a:p>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If this surfaces after the contract being potentially awarded: the contract could get voided and Greenfield might get debarred from public procurement. Every future tender, gone.</a:t>
            </a:r>
            <a:endParaRPr lang="en-US" sz="1100" dirty="0"/>
          </a:p>
          <a:p>
            <a:pPr marL="0" indent="0" algn="l">
              <a:lnSpc>
                <a:spcPct val="115000"/>
              </a:lnSpc>
              <a:buNone/>
            </a:pPr>
            <a:endParaRPr lang="en-US" sz="1100" dirty="0"/>
          </a:p>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Richard's disclosure is already unlawful but what Greenfield does next determines whether it becomes Greenfield's problem too. (HM Government, 2023)</a:t>
            </a:r>
            <a:endParaRPr lang="en-US" sz="1100" dirty="0"/>
          </a:p>
        </p:txBody>
      </p:sp>
      <p:sp>
        <p:nvSpPr>
          <p:cNvPr id="7" name="Text 5"/>
          <p:cNvSpPr/>
          <p:nvPr/>
        </p:nvSpPr>
        <p:spPr>
          <a:xfrm>
            <a:off x="457200" y="4343400"/>
            <a:ext cx="8321040" cy="548640"/>
          </a:xfrm>
          <a:prstGeom prst="rect">
            <a:avLst/>
          </a:prstGeom>
          <a:noFill/>
          <a:ln/>
        </p:spPr>
        <p:txBody>
          <a:bodyPr wrap="square" lIns="0" tIns="0" rIns="0" bIns="0" rtlCol="0" anchor="ctr"/>
          <a:lstStyle/>
          <a:p>
            <a:pPr marL="0" indent="0" algn="l">
              <a:buNone/>
            </a:pPr>
            <a:r>
              <a:rPr lang="en-US" sz="1300" i="1" dirty="0">
                <a:solidFill>
                  <a:srgbClr val="BF2C1F"/>
                </a:solidFill>
                <a:latin typeface="Calibri" pitchFamily="34" charset="0"/>
                <a:ea typeface="Calibri" pitchFamily="34" charset="-122"/>
                <a:cs typeface="Calibri" pitchFamily="34" charset="-120"/>
              </a:rPr>
              <a:t>Greenfield doesn't need to use the information for liability to arise. Receiving it without reporting could be enough.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Three options</a:t>
            </a:r>
            <a:endParaRPr lang="en-US" sz="2000" dirty="0"/>
          </a:p>
        </p:txBody>
      </p:sp>
      <p:sp>
        <p:nvSpPr>
          <p:cNvPr id="3" name="Shape 1"/>
          <p:cNvSpPr/>
          <p:nvPr/>
        </p:nvSpPr>
        <p:spPr>
          <a:xfrm>
            <a:off x="246888" y="594360"/>
            <a:ext cx="2743200" cy="402336"/>
          </a:xfrm>
          <a:prstGeom prst="rect">
            <a:avLst/>
          </a:prstGeom>
          <a:solidFill>
            <a:srgbClr val="BF2C1F"/>
          </a:solidFill>
          <a:ln w="12700">
            <a:solidFill>
              <a:srgbClr val="BF2C1F"/>
            </a:solidFill>
            <a:prstDash val="solid"/>
          </a:ln>
        </p:spPr>
        <p:txBody>
          <a:bodyPr/>
          <a:lstStyle/>
          <a:p>
            <a:endParaRPr lang="en-GB"/>
          </a:p>
        </p:txBody>
      </p:sp>
      <p:sp>
        <p:nvSpPr>
          <p:cNvPr id="4" name="Text 2"/>
          <p:cNvSpPr/>
          <p:nvPr/>
        </p:nvSpPr>
        <p:spPr>
          <a:xfrm>
            <a:off x="356616" y="594360"/>
            <a:ext cx="2606040" cy="402336"/>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Option A — Accept</a:t>
            </a:r>
            <a:endParaRPr lang="en-US" sz="1100" dirty="0"/>
          </a:p>
        </p:txBody>
      </p:sp>
      <p:sp>
        <p:nvSpPr>
          <p:cNvPr id="5" name="Text 3"/>
          <p:cNvSpPr/>
          <p:nvPr/>
        </p:nvSpPr>
        <p:spPr>
          <a:xfrm>
            <a:off x="356616" y="1069848"/>
            <a:ext cx="2560320" cy="4114800"/>
          </a:xfrm>
          <a:prstGeom prst="rect">
            <a:avLst/>
          </a:prstGeom>
          <a:noFill/>
          <a:ln/>
        </p:spPr>
        <p:txBody>
          <a:bodyPr wrap="square" lIns="0" tIns="0" rIns="0" bIns="0" rtlCol="0" anchor="t"/>
          <a:lstStyle/>
          <a:p>
            <a:pPr marL="171450" indent="-171450" algn="l">
              <a:lnSpc>
                <a:spcPct val="128000"/>
              </a:lnSpc>
              <a:buFont typeface="Arial" panose="020B0604020202020204" pitchFamily="34" charset="0"/>
              <a:buChar char="•"/>
            </a:pPr>
            <a:r>
              <a:rPr lang="en-US" sz="1100" dirty="0">
                <a:solidFill>
                  <a:srgbClr val="2A7A2A"/>
                </a:solidFill>
                <a:latin typeface="Calibri" pitchFamily="34" charset="0"/>
                <a:ea typeface="Calibri" pitchFamily="34" charset="-122"/>
                <a:cs typeface="Calibri" pitchFamily="34" charset="-120"/>
              </a:rPr>
              <a:t>Could win the £18.5m contract</a:t>
            </a:r>
            <a:endParaRPr lang="en-US" sz="1100" dirty="0"/>
          </a:p>
          <a:p>
            <a:pPr marL="171450" indent="-171450" algn="l">
              <a:lnSpc>
                <a:spcPct val="128000"/>
              </a:lnSpc>
              <a:buFont typeface="Arial" panose="020B0604020202020204" pitchFamily="34" charset="0"/>
              <a:buChar char="•"/>
            </a:pPr>
            <a:r>
              <a:rPr lang="en-US" sz="1100" dirty="0">
                <a:solidFill>
                  <a:srgbClr val="2A7A2A"/>
                </a:solidFill>
                <a:latin typeface="Calibri" pitchFamily="34" charset="0"/>
                <a:ea typeface="Calibri" pitchFamily="34" charset="-122"/>
                <a:cs typeface="Calibri" pitchFamily="34" charset="-120"/>
              </a:rPr>
              <a:t>Sustains 85 jobs in the short term</a:t>
            </a:r>
            <a:endParaRPr lang="en-US" sz="1100" dirty="0"/>
          </a:p>
          <a:p>
            <a:pPr marL="0" indent="0" algn="l">
              <a:lnSpc>
                <a:spcPct val="128000"/>
              </a:lnSpc>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171450" indent="-171450" algn="l">
              <a:lnSpc>
                <a:spcPct val="128000"/>
              </a:lnSpc>
              <a:buFont typeface="Arial" panose="020B0604020202020204" pitchFamily="34" charset="0"/>
              <a:buChar char="•"/>
            </a:pPr>
            <a:r>
              <a:rPr lang="en-US" sz="1100" dirty="0">
                <a:solidFill>
                  <a:srgbClr val="A01818"/>
                </a:solidFill>
                <a:latin typeface="Calibri" pitchFamily="34" charset="0"/>
                <a:ea typeface="Calibri" pitchFamily="34" charset="-122"/>
                <a:cs typeface="Calibri" pitchFamily="34" charset="-120"/>
              </a:rPr>
              <a:t>Criminal offence: Bribery Act ss.1, 2 and 7</a:t>
            </a:r>
            <a:endParaRPr lang="en-US" sz="1100" dirty="0"/>
          </a:p>
          <a:p>
            <a:pPr marL="171450" indent="-171450" algn="l">
              <a:lnSpc>
                <a:spcPct val="128000"/>
              </a:lnSpc>
              <a:buFont typeface="Arial" panose="020B0604020202020204" pitchFamily="34" charset="0"/>
              <a:buChar char="•"/>
            </a:pPr>
            <a:r>
              <a:rPr lang="en-US" sz="1100" dirty="0">
                <a:solidFill>
                  <a:srgbClr val="A01818"/>
                </a:solidFill>
                <a:latin typeface="Calibri" pitchFamily="34" charset="0"/>
                <a:ea typeface="Calibri" pitchFamily="34" charset="-122"/>
                <a:cs typeface="Calibri" pitchFamily="34" charset="-120"/>
              </a:rPr>
              <a:t>Contract voided and debarred from public procurement if discovered</a:t>
            </a:r>
            <a:endParaRPr lang="en-US" sz="1100" dirty="0"/>
          </a:p>
          <a:p>
            <a:pPr marL="171450" indent="-171450" algn="l">
              <a:lnSpc>
                <a:spcPct val="128000"/>
              </a:lnSpc>
              <a:buFont typeface="Arial" panose="020B0604020202020204" pitchFamily="34" charset="0"/>
              <a:buChar char="•"/>
            </a:pPr>
            <a:r>
              <a:rPr lang="en-US" sz="1100" dirty="0">
                <a:solidFill>
                  <a:srgbClr val="A01818"/>
                </a:solidFill>
                <a:latin typeface="Calibri" pitchFamily="34" charset="0"/>
                <a:ea typeface="Calibri" pitchFamily="34" charset="-122"/>
                <a:cs typeface="Calibri" pitchFamily="34" charset="-120"/>
              </a:rPr>
              <a:t>Reputational damage that can't be undone</a:t>
            </a:r>
            <a:endParaRPr lang="en-US" sz="1100" dirty="0"/>
          </a:p>
          <a:p>
            <a:pPr marL="171450" indent="-171450" algn="l">
              <a:lnSpc>
                <a:spcPct val="128000"/>
              </a:lnSpc>
              <a:buFont typeface="Arial" panose="020B0604020202020204" pitchFamily="34" charset="0"/>
              <a:buChar char="•"/>
            </a:pPr>
            <a:r>
              <a:rPr lang="en-US" sz="1100" dirty="0">
                <a:solidFill>
                  <a:srgbClr val="A01818"/>
                </a:solidFill>
                <a:latin typeface="Calibri" pitchFamily="34" charset="0"/>
                <a:ea typeface="Calibri" pitchFamily="34" charset="-122"/>
                <a:cs typeface="Calibri" pitchFamily="34" charset="-120"/>
              </a:rPr>
              <a:t>The exposure exists even if you never use the information</a:t>
            </a:r>
            <a:endParaRPr lang="en-US" sz="1100" dirty="0"/>
          </a:p>
        </p:txBody>
      </p:sp>
      <p:sp>
        <p:nvSpPr>
          <p:cNvPr id="6" name="Shape 4"/>
          <p:cNvSpPr/>
          <p:nvPr/>
        </p:nvSpPr>
        <p:spPr>
          <a:xfrm>
            <a:off x="3054096" y="594360"/>
            <a:ext cx="2743200" cy="402336"/>
          </a:xfrm>
          <a:prstGeom prst="rect">
            <a:avLst/>
          </a:prstGeom>
          <a:solidFill>
            <a:srgbClr val="5C6470"/>
          </a:solidFill>
          <a:ln w="12700">
            <a:solidFill>
              <a:srgbClr val="5C6470"/>
            </a:solidFill>
            <a:prstDash val="solid"/>
          </a:ln>
        </p:spPr>
        <p:txBody>
          <a:bodyPr/>
          <a:lstStyle/>
          <a:p>
            <a:endParaRPr lang="en-GB"/>
          </a:p>
        </p:txBody>
      </p:sp>
      <p:sp>
        <p:nvSpPr>
          <p:cNvPr id="7" name="Text 5"/>
          <p:cNvSpPr/>
          <p:nvPr/>
        </p:nvSpPr>
        <p:spPr>
          <a:xfrm>
            <a:off x="3163824" y="594360"/>
            <a:ext cx="2606040" cy="402336"/>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Option B — Stay quiet</a:t>
            </a:r>
            <a:endParaRPr lang="en-US" sz="1100" dirty="0"/>
          </a:p>
        </p:txBody>
      </p:sp>
      <p:sp>
        <p:nvSpPr>
          <p:cNvPr id="8" name="Text 6"/>
          <p:cNvSpPr/>
          <p:nvPr/>
        </p:nvSpPr>
        <p:spPr>
          <a:xfrm>
            <a:off x="3163824" y="1069848"/>
            <a:ext cx="2560320" cy="4114800"/>
          </a:xfrm>
          <a:prstGeom prst="rect">
            <a:avLst/>
          </a:prstGeom>
          <a:noFill/>
          <a:ln/>
        </p:spPr>
        <p:txBody>
          <a:bodyPr wrap="square" lIns="0" tIns="0" rIns="0" bIns="0" rtlCol="0" anchor="t"/>
          <a:lstStyle/>
          <a:p>
            <a:pPr marL="171450" indent="-171450" algn="l">
              <a:lnSpc>
                <a:spcPct val="128000"/>
              </a:lnSpc>
              <a:buFont typeface="Arial" panose="020B0604020202020204" pitchFamily="34" charset="0"/>
              <a:buChar char="•"/>
            </a:pPr>
            <a:r>
              <a:rPr lang="en-US" sz="1100" dirty="0">
                <a:solidFill>
                  <a:srgbClr val="2A7A2A"/>
                </a:solidFill>
                <a:latin typeface="Calibri" pitchFamily="34" charset="0"/>
                <a:ea typeface="Calibri" pitchFamily="34" charset="-122"/>
                <a:cs typeface="Calibri" pitchFamily="34" charset="-120"/>
              </a:rPr>
              <a:t>No direct criminal exposure</a:t>
            </a:r>
            <a:endParaRPr lang="en-US" sz="1100" dirty="0"/>
          </a:p>
          <a:p>
            <a:pPr marL="171450" indent="-171450" algn="l">
              <a:lnSpc>
                <a:spcPct val="128000"/>
              </a:lnSpc>
              <a:buFont typeface="Arial" panose="020B0604020202020204" pitchFamily="34" charset="0"/>
              <a:buChar char="•"/>
            </a:pPr>
            <a:r>
              <a:rPr lang="en-US" sz="1100" dirty="0">
                <a:solidFill>
                  <a:srgbClr val="2A7A2A"/>
                </a:solidFill>
                <a:latin typeface="Calibri" pitchFamily="34" charset="0"/>
                <a:ea typeface="Calibri" pitchFamily="34" charset="-122"/>
                <a:cs typeface="Calibri" pitchFamily="34" charset="-120"/>
              </a:rPr>
              <a:t>Friendship with Richard preserved</a:t>
            </a:r>
            <a:endParaRPr lang="en-US" sz="1100" dirty="0"/>
          </a:p>
          <a:p>
            <a:pPr marL="0" indent="0" algn="l">
              <a:lnSpc>
                <a:spcPct val="128000"/>
              </a:lnSpc>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171450" indent="-171450" algn="l">
              <a:lnSpc>
                <a:spcPct val="128000"/>
              </a:lnSpc>
              <a:buFont typeface="Arial" panose="020B0604020202020204" pitchFamily="34" charset="0"/>
              <a:buChar char="•"/>
            </a:pPr>
            <a:r>
              <a:rPr lang="en-US" sz="1100" dirty="0">
                <a:solidFill>
                  <a:srgbClr val="A01818"/>
                </a:solidFill>
                <a:latin typeface="Calibri" pitchFamily="34" charset="0"/>
                <a:ea typeface="Calibri" pitchFamily="34" charset="-122"/>
                <a:cs typeface="Calibri" pitchFamily="34" charset="-120"/>
              </a:rPr>
              <a:t>Leaves a corrupt process running</a:t>
            </a:r>
            <a:endParaRPr lang="en-US" sz="1100" dirty="0"/>
          </a:p>
          <a:p>
            <a:pPr marL="171450" indent="-171450" algn="l">
              <a:lnSpc>
                <a:spcPct val="128000"/>
              </a:lnSpc>
              <a:buFont typeface="Arial" panose="020B0604020202020204" pitchFamily="34" charset="0"/>
              <a:buChar char="•"/>
            </a:pPr>
            <a:r>
              <a:rPr lang="en-US" sz="1100" dirty="0">
                <a:solidFill>
                  <a:srgbClr val="A01818"/>
                </a:solidFill>
                <a:latin typeface="Calibri" pitchFamily="34" charset="0"/>
                <a:ea typeface="Calibri" pitchFamily="34" charset="-122"/>
                <a:cs typeface="Calibri" pitchFamily="34" charset="-120"/>
              </a:rPr>
              <a:t>Silence can look like complicity if this surfaces later</a:t>
            </a:r>
            <a:endParaRPr lang="en-US" sz="1100" dirty="0"/>
          </a:p>
          <a:p>
            <a:pPr marL="171450" indent="-171450" algn="l">
              <a:lnSpc>
                <a:spcPct val="128000"/>
              </a:lnSpc>
              <a:buFont typeface="Arial" panose="020B0604020202020204" pitchFamily="34" charset="0"/>
              <a:buChar char="•"/>
            </a:pPr>
            <a:r>
              <a:rPr lang="en-US" sz="1100" dirty="0">
                <a:solidFill>
                  <a:srgbClr val="A01818"/>
                </a:solidFill>
                <a:latin typeface="Calibri" pitchFamily="34" charset="0"/>
                <a:ea typeface="Calibri" pitchFamily="34" charset="-122"/>
                <a:cs typeface="Calibri" pitchFamily="34" charset="-120"/>
              </a:rPr>
              <a:t>Richard may approach the next bidder</a:t>
            </a:r>
            <a:endParaRPr lang="en-US" sz="1100" dirty="0"/>
          </a:p>
          <a:p>
            <a:pPr marL="171450" indent="-171450" algn="l">
              <a:lnSpc>
                <a:spcPct val="128000"/>
              </a:lnSpc>
              <a:buFont typeface="Arial" panose="020B0604020202020204" pitchFamily="34" charset="0"/>
              <a:buChar char="•"/>
            </a:pPr>
            <a:r>
              <a:rPr lang="en-US" sz="1100" dirty="0">
                <a:solidFill>
                  <a:srgbClr val="A01818"/>
                </a:solidFill>
                <a:latin typeface="Calibri" pitchFamily="34" charset="0"/>
                <a:ea typeface="Calibri" pitchFamily="34" charset="-122"/>
                <a:cs typeface="Calibri" pitchFamily="34" charset="-120"/>
              </a:rPr>
              <a:t>Hard to square with mission statement of 'building with integrity'</a:t>
            </a:r>
            <a:endParaRPr lang="en-US" sz="1100" dirty="0"/>
          </a:p>
        </p:txBody>
      </p:sp>
      <p:sp>
        <p:nvSpPr>
          <p:cNvPr id="9" name="Shape 7"/>
          <p:cNvSpPr/>
          <p:nvPr/>
        </p:nvSpPr>
        <p:spPr>
          <a:xfrm>
            <a:off x="5861304" y="594360"/>
            <a:ext cx="2743200" cy="402336"/>
          </a:xfrm>
          <a:prstGeom prst="rect">
            <a:avLst/>
          </a:prstGeom>
          <a:solidFill>
            <a:srgbClr val="1A3A28"/>
          </a:solidFill>
          <a:ln w="12700">
            <a:solidFill>
              <a:srgbClr val="1A3A28"/>
            </a:solidFill>
            <a:prstDash val="solid"/>
          </a:ln>
        </p:spPr>
        <p:txBody>
          <a:bodyPr/>
          <a:lstStyle/>
          <a:p>
            <a:endParaRPr lang="en-GB"/>
          </a:p>
        </p:txBody>
      </p:sp>
      <p:sp>
        <p:nvSpPr>
          <p:cNvPr id="10" name="Text 8"/>
          <p:cNvSpPr/>
          <p:nvPr/>
        </p:nvSpPr>
        <p:spPr>
          <a:xfrm>
            <a:off x="5971032" y="594360"/>
            <a:ext cx="2606040" cy="402336"/>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Option C — Decline and report ✓</a:t>
            </a:r>
            <a:endParaRPr lang="en-US" sz="1100" dirty="0"/>
          </a:p>
        </p:txBody>
      </p:sp>
      <p:sp>
        <p:nvSpPr>
          <p:cNvPr id="11" name="Text 9"/>
          <p:cNvSpPr/>
          <p:nvPr/>
        </p:nvSpPr>
        <p:spPr>
          <a:xfrm>
            <a:off x="5971032" y="1069848"/>
            <a:ext cx="2560320" cy="4114800"/>
          </a:xfrm>
          <a:prstGeom prst="rect">
            <a:avLst/>
          </a:prstGeom>
          <a:noFill/>
          <a:ln/>
        </p:spPr>
        <p:txBody>
          <a:bodyPr wrap="square" lIns="0" tIns="0" rIns="0" bIns="0" rtlCol="0" anchor="t"/>
          <a:lstStyle/>
          <a:p>
            <a:pPr marL="171450" indent="-171450" algn="l">
              <a:lnSpc>
                <a:spcPct val="128000"/>
              </a:lnSpc>
              <a:buFont typeface="Arial" panose="020B0604020202020204" pitchFamily="34" charset="0"/>
              <a:buChar char="•"/>
            </a:pPr>
            <a:r>
              <a:rPr lang="en-US" sz="1100" dirty="0">
                <a:solidFill>
                  <a:srgbClr val="2A7A2A"/>
                </a:solidFill>
                <a:latin typeface="Calibri" pitchFamily="34" charset="0"/>
                <a:ea typeface="Calibri" pitchFamily="34" charset="-122"/>
                <a:cs typeface="Calibri" pitchFamily="34" charset="-120"/>
              </a:rPr>
              <a:t>Full legal protection</a:t>
            </a:r>
            <a:endParaRPr lang="en-US" sz="1100" dirty="0"/>
          </a:p>
          <a:p>
            <a:pPr marL="171450" indent="-171450" algn="l">
              <a:lnSpc>
                <a:spcPct val="128000"/>
              </a:lnSpc>
              <a:buFont typeface="Arial" panose="020B0604020202020204" pitchFamily="34" charset="0"/>
              <a:buChar char="•"/>
            </a:pPr>
            <a:r>
              <a:rPr lang="en-US" sz="1100" dirty="0">
                <a:solidFill>
                  <a:srgbClr val="2A7A2A"/>
                </a:solidFill>
                <a:latin typeface="Calibri" pitchFamily="34" charset="0"/>
                <a:ea typeface="Calibri" pitchFamily="34" charset="-122"/>
                <a:cs typeface="Calibri" pitchFamily="34" charset="-120"/>
              </a:rPr>
              <a:t>Consistent with Greenfield's stated values</a:t>
            </a:r>
            <a:endParaRPr lang="en-US" sz="1100" dirty="0"/>
          </a:p>
          <a:p>
            <a:pPr marL="171450" indent="-171450" algn="l">
              <a:lnSpc>
                <a:spcPct val="128000"/>
              </a:lnSpc>
              <a:buFont typeface="Arial" panose="020B0604020202020204" pitchFamily="34" charset="0"/>
              <a:buChar char="•"/>
            </a:pPr>
            <a:r>
              <a:rPr lang="en-US" sz="1100" dirty="0">
                <a:solidFill>
                  <a:srgbClr val="2A7A2A"/>
                </a:solidFill>
                <a:latin typeface="Calibri" pitchFamily="34" charset="0"/>
                <a:ea typeface="Calibri" pitchFamily="34" charset="-122"/>
                <a:cs typeface="Calibri" pitchFamily="34" charset="-120"/>
              </a:rPr>
              <a:t>Public sector pipeline stays intact</a:t>
            </a:r>
            <a:endParaRPr lang="en-US" sz="1100" dirty="0"/>
          </a:p>
          <a:p>
            <a:pPr marL="171450" indent="-171450" algn="l">
              <a:lnSpc>
                <a:spcPct val="128000"/>
              </a:lnSpc>
              <a:buFont typeface="Arial" panose="020B0604020202020204" pitchFamily="34" charset="0"/>
              <a:buChar char="•"/>
            </a:pPr>
            <a:r>
              <a:rPr lang="en-US" sz="1100" dirty="0">
                <a:solidFill>
                  <a:srgbClr val="2A7A2A"/>
                </a:solidFill>
                <a:latin typeface="Calibri" pitchFamily="34" charset="0"/>
                <a:ea typeface="Calibri" pitchFamily="34" charset="-122"/>
                <a:cs typeface="Calibri" pitchFamily="34" charset="-120"/>
              </a:rPr>
              <a:t>Right outcome for the community</a:t>
            </a:r>
            <a:endParaRPr lang="en-US" sz="1100" dirty="0"/>
          </a:p>
          <a:p>
            <a:pPr marL="0" indent="0" algn="l">
              <a:lnSpc>
                <a:spcPct val="128000"/>
              </a:lnSpc>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171450" indent="-171450" algn="l">
              <a:lnSpc>
                <a:spcPct val="128000"/>
              </a:lnSpc>
              <a:buFont typeface="Arial" panose="020B0604020202020204" pitchFamily="34" charset="0"/>
              <a:buChar char="•"/>
            </a:pPr>
            <a:r>
              <a:rPr lang="en-US" sz="1100" dirty="0">
                <a:solidFill>
                  <a:srgbClr val="A01818"/>
                </a:solidFill>
                <a:latin typeface="Calibri" pitchFamily="34" charset="0"/>
                <a:ea typeface="Calibri" pitchFamily="34" charset="-122"/>
                <a:cs typeface="Calibri" pitchFamily="34" charset="-120"/>
              </a:rPr>
              <a:t>Real chance of losing this contract</a:t>
            </a:r>
            <a:endParaRPr lang="en-US" sz="1100" dirty="0"/>
          </a:p>
          <a:p>
            <a:pPr marL="171450" indent="-171450" algn="l">
              <a:lnSpc>
                <a:spcPct val="128000"/>
              </a:lnSpc>
              <a:buFont typeface="Arial" panose="020B0604020202020204" pitchFamily="34" charset="0"/>
              <a:buChar char="•"/>
            </a:pPr>
            <a:r>
              <a:rPr lang="en-US" sz="1100" dirty="0">
                <a:solidFill>
                  <a:srgbClr val="A01818"/>
                </a:solidFill>
                <a:latin typeface="Calibri" pitchFamily="34" charset="0"/>
                <a:ea typeface="Calibri" pitchFamily="34" charset="-122"/>
                <a:cs typeface="Calibri" pitchFamily="34" charset="-120"/>
              </a:rPr>
              <a:t>Short-term financial pressure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Ethical analysis: utilitarianism</a:t>
            </a:r>
            <a:endParaRPr lang="en-US" sz="2000" dirty="0"/>
          </a:p>
        </p:txBody>
      </p:sp>
      <p:sp>
        <p:nvSpPr>
          <p:cNvPr id="3" name="Text 1"/>
          <p:cNvSpPr/>
          <p:nvPr/>
        </p:nvSpPr>
        <p:spPr>
          <a:xfrm>
            <a:off x="457200" y="594360"/>
            <a:ext cx="338328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THE FRAMEWORK</a:t>
            </a:r>
            <a:endParaRPr lang="en-US" sz="900" dirty="0"/>
          </a:p>
        </p:txBody>
      </p:sp>
      <p:sp>
        <p:nvSpPr>
          <p:cNvPr id="4" name="Text 2"/>
          <p:cNvSpPr/>
          <p:nvPr/>
        </p:nvSpPr>
        <p:spPr>
          <a:xfrm>
            <a:off x="457200" y="850392"/>
            <a:ext cx="3383280" cy="388620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Utilitarianism asks the question: which action produces the best outcome for the most people?</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Bentham and Mill's answer: the greatest happiness for the greatest number. That means counting all affected parties, not just Greenfield. The right action is the one that produces the most welfare overall.</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(Crane and Matten, 2019, pp.103–108)</a:t>
            </a:r>
            <a:endParaRPr lang="en-US" sz="1200" dirty="0"/>
          </a:p>
        </p:txBody>
      </p:sp>
      <p:sp>
        <p:nvSpPr>
          <p:cNvPr id="5" name="Text 3"/>
          <p:cNvSpPr/>
          <p:nvPr/>
        </p:nvSpPr>
        <p:spPr>
          <a:xfrm>
            <a:off x="4160520" y="594360"/>
            <a:ext cx="466344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APPLIED TO EACH OPTION</a:t>
            </a:r>
            <a:endParaRPr lang="en-US" sz="900" dirty="0"/>
          </a:p>
        </p:txBody>
      </p:sp>
      <p:sp>
        <p:nvSpPr>
          <p:cNvPr id="6" name="Text 4"/>
          <p:cNvSpPr/>
          <p:nvPr/>
        </p:nvSpPr>
        <p:spPr>
          <a:xfrm>
            <a:off x="4160520" y="850392"/>
            <a:ext cx="4663440" cy="3886200"/>
          </a:xfrm>
          <a:prstGeom prst="rect">
            <a:avLst/>
          </a:prstGeom>
          <a:noFill/>
          <a:ln/>
        </p:spPr>
        <p:txBody>
          <a:bodyPr wrap="square" lIns="0" tIns="0" rIns="0" bIns="0" rtlCol="0" anchor="t"/>
          <a:lstStyle/>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If you accept: one contract won, 85 jobs in the short term. But if it surfaces, and these things tend to, the costs are enormous. Prosecution, debarment, a reputation built over two decades gone. </a:t>
            </a:r>
          </a:p>
          <a:p>
            <a:pPr marL="0" indent="0" algn="l">
              <a:lnSpc>
                <a:spcPct val="125000"/>
              </a:lnSpc>
              <a:buNone/>
            </a:pPr>
            <a:endParaRPr lang="en-US" sz="1150" dirty="0"/>
          </a:p>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If you stay quiet: you avoid direct harm to Greenfield. But the corrupt process keeps running. The community still loses out on a fair competition. Marginally better than Option A but only marginally.</a:t>
            </a:r>
            <a:endParaRPr lang="en-US" sz="1150" dirty="0"/>
          </a:p>
          <a:p>
            <a:pPr marL="0" indent="0" algn="l">
              <a:lnSpc>
                <a:spcPct val="125000"/>
              </a:lnSpc>
              <a:buNone/>
            </a:pPr>
            <a:endParaRPr lang="en-US" sz="1150" dirty="0"/>
          </a:p>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If you decline and report: you might lose this contract. That's a real cost. But Greenfield's public sector image stays intact. The community gets a fair process. Richard's conduct stops before it reaches the next bidder.</a:t>
            </a:r>
            <a:endParaRPr lang="en-US" sz="1150" dirty="0"/>
          </a:p>
          <a:p>
            <a:pPr marL="0" indent="0" algn="l">
              <a:lnSpc>
                <a:spcPct val="125000"/>
              </a:lnSpc>
              <a:buNone/>
            </a:pPr>
            <a:endParaRPr lang="en-US" sz="1150" dirty="0"/>
          </a:p>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One tension to be honest about is that utilitarianism depends on probabilities. If detection were certain to be zero, the calculation would change. That's why the deontology analysis matters. It doesn't depend on the odds.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Ethical analysis: deontology</a:t>
            </a:r>
            <a:endParaRPr lang="en-US" sz="2000" dirty="0"/>
          </a:p>
        </p:txBody>
      </p:sp>
      <p:sp>
        <p:nvSpPr>
          <p:cNvPr id="3" name="Text 1"/>
          <p:cNvSpPr/>
          <p:nvPr/>
        </p:nvSpPr>
        <p:spPr>
          <a:xfrm>
            <a:off x="457200" y="594360"/>
            <a:ext cx="338328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THE FRAMEWORK</a:t>
            </a:r>
            <a:endParaRPr lang="en-US" sz="900" dirty="0"/>
          </a:p>
        </p:txBody>
      </p:sp>
      <p:sp>
        <p:nvSpPr>
          <p:cNvPr id="4" name="Text 2"/>
          <p:cNvSpPr/>
          <p:nvPr/>
        </p:nvSpPr>
        <p:spPr>
          <a:xfrm>
            <a:off x="457200" y="850392"/>
            <a:ext cx="3383280" cy="388620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Kant's deontological ethics isn't interested in outcomes. An action is right or wrong based on what it is, not what it produces.</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Two tests from the categorical imperative:</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(i) Universalisability: act only on rules that could apply to everyone</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(ii) Humanity: treat people as ends in themselves, not as means to an end</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(Fisher and Lovell, 2009, pp.88–95)</a:t>
            </a:r>
            <a:endParaRPr lang="en-US" sz="1200" dirty="0"/>
          </a:p>
        </p:txBody>
      </p:sp>
      <p:sp>
        <p:nvSpPr>
          <p:cNvPr id="5" name="Text 3"/>
          <p:cNvSpPr/>
          <p:nvPr/>
        </p:nvSpPr>
        <p:spPr>
          <a:xfrm>
            <a:off x="4160520" y="594360"/>
            <a:ext cx="466344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APPLIED TO GREENFIELD</a:t>
            </a:r>
            <a:endParaRPr lang="en-US" sz="900" dirty="0"/>
          </a:p>
        </p:txBody>
      </p:sp>
      <p:sp>
        <p:nvSpPr>
          <p:cNvPr id="6" name="Text 4"/>
          <p:cNvSpPr/>
          <p:nvPr/>
        </p:nvSpPr>
        <p:spPr>
          <a:xfrm>
            <a:off x="4160520" y="850392"/>
            <a:ext cx="4663440" cy="3886200"/>
          </a:xfrm>
          <a:prstGeom prst="rect">
            <a:avLst/>
          </a:prstGeom>
          <a:noFill/>
          <a:ln/>
        </p:spPr>
        <p:txBody>
          <a:bodyPr wrap="square" lIns="0" tIns="0" rIns="0" bIns="0" rtlCol="0" anchor="t"/>
          <a:lstStyle/>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Test 1, universalisability. What if every company in a public tender accepted insider information when offered? The entire procurement would system collapse. The rule can't be universalised. For Kant, that settles it, regardless of how likely discovery is.</a:t>
            </a:r>
            <a:endParaRPr lang="en-US" sz="1150" dirty="0"/>
          </a:p>
          <a:p>
            <a:pPr marL="0" indent="0" algn="l">
              <a:lnSpc>
                <a:spcPct val="125000"/>
              </a:lnSpc>
              <a:buNone/>
            </a:pPr>
            <a:endParaRPr lang="en-US" sz="1150" dirty="0"/>
          </a:p>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Test 2, humanity. Richard's offer uses the Council, competing bidders, and the community as instruments. Accepting makes Greenfield a participant in that. Kant's second formulation rules it out.</a:t>
            </a:r>
            <a:endParaRPr lang="en-US" sz="1150" dirty="0"/>
          </a:p>
          <a:p>
            <a:pPr marL="0" indent="0" algn="l">
              <a:lnSpc>
                <a:spcPct val="125000"/>
              </a:lnSpc>
              <a:buNone/>
            </a:pPr>
            <a:endParaRPr lang="en-US" sz="1150" dirty="0"/>
          </a:p>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'Building with integrity' is a self-imposed commitment. Carroll (1991) makes the same point: ethical responsibilities constrain how economic goals are pursued. They are not traded off against them.</a:t>
            </a:r>
            <a:endParaRPr lang="en-US" sz="1150" dirty="0"/>
          </a:p>
          <a:p>
            <a:pPr marL="0" indent="0" algn="l">
              <a:lnSpc>
                <a:spcPct val="125000"/>
              </a:lnSpc>
              <a:buNone/>
            </a:pPr>
            <a:endParaRPr lang="en-US" sz="1150" dirty="0"/>
          </a:p>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Two frameworks both reaching one conclusion.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What we recommend</a:t>
            </a:r>
            <a:endParaRPr lang="en-US" sz="2000" dirty="0"/>
          </a:p>
        </p:txBody>
      </p:sp>
      <p:sp>
        <p:nvSpPr>
          <p:cNvPr id="3" name="Text 1"/>
          <p:cNvSpPr/>
          <p:nvPr/>
        </p:nvSpPr>
        <p:spPr>
          <a:xfrm>
            <a:off x="457200" y="594360"/>
            <a:ext cx="832104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OUR RECOMMENDATION</a:t>
            </a:r>
            <a:endParaRPr lang="en-US" sz="900" dirty="0"/>
          </a:p>
        </p:txBody>
      </p:sp>
      <p:sp>
        <p:nvSpPr>
          <p:cNvPr id="4" name="Text 2"/>
          <p:cNvSpPr/>
          <p:nvPr/>
        </p:nvSpPr>
        <p:spPr>
          <a:xfrm>
            <a:off x="457200" y="850392"/>
            <a:ext cx="8321040" cy="749808"/>
          </a:xfrm>
          <a:prstGeom prst="rect">
            <a:avLst/>
          </a:prstGeom>
          <a:noFill/>
          <a:ln/>
        </p:spPr>
        <p:txBody>
          <a:bodyPr wrap="square" lIns="0" tIns="0" rIns="0" bIns="0" rtlCol="0" anchor="t"/>
          <a:lstStyle/>
          <a:p>
            <a:pPr marL="0" indent="0" algn="l">
              <a:lnSpc>
                <a:spcPct val="125000"/>
              </a:lnSpc>
              <a:buNone/>
            </a:pPr>
            <a:r>
              <a:rPr lang="en-US" sz="1250" dirty="0">
                <a:solidFill>
                  <a:srgbClr val="292929"/>
                </a:solidFill>
                <a:latin typeface="Calibri" pitchFamily="34" charset="0"/>
                <a:ea typeface="Calibri" pitchFamily="34" charset="-122"/>
                <a:cs typeface="Calibri" pitchFamily="34" charset="-120"/>
              </a:rPr>
              <a:t>Decline Richard Hale's offer and report his conduct to Avondale County Council's monitoring officer. Both ethical frameworks lead there. The table below shows what that would mean for each stakeholder.</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319149689"/>
              </p:ext>
            </p:extLst>
          </p:nvPr>
        </p:nvGraphicFramePr>
        <p:xfrm>
          <a:off x="457200" y="1673352"/>
          <a:ext cx="8321040" cy="3291840"/>
        </p:xfrm>
        <a:graphic>
          <a:graphicData uri="http://schemas.openxmlformats.org/drawingml/2006/table">
            <a:tbl>
              <a:tblPr/>
              <a:tblGrid>
                <a:gridCol w="2773680">
                  <a:extLst>
                    <a:ext uri="{9D8B030D-6E8A-4147-A177-3AD203B41FA5}">
                      <a16:colId xmlns:a16="http://schemas.microsoft.com/office/drawing/2014/main" val="20000"/>
                    </a:ext>
                  </a:extLst>
                </a:gridCol>
                <a:gridCol w="2773680">
                  <a:extLst>
                    <a:ext uri="{9D8B030D-6E8A-4147-A177-3AD203B41FA5}">
                      <a16:colId xmlns:a16="http://schemas.microsoft.com/office/drawing/2014/main" val="20001"/>
                    </a:ext>
                  </a:extLst>
                </a:gridCol>
                <a:gridCol w="2773680">
                  <a:extLst>
                    <a:ext uri="{9D8B030D-6E8A-4147-A177-3AD203B41FA5}">
                      <a16:colId xmlns:a16="http://schemas.microsoft.com/office/drawing/2014/main" val="20002"/>
                    </a:ext>
                  </a:extLst>
                </a:gridCol>
              </a:tblGrid>
              <a:tr h="45720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Stakeholder</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0F1319"/>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Their interest</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0F1319"/>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Why Option C works for them</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0F1319"/>
                    </a:solidFill>
                  </a:tcPr>
                </a:tc>
                <a:extLst>
                  <a:ext uri="{0D108BD9-81ED-4DB2-BD59-A6C34878D82A}">
                    <a16:rowId xmlns:a16="http://schemas.microsoft.com/office/drawing/2014/main" val="10000"/>
                  </a:ext>
                </a:extLst>
              </a:tr>
              <a:tr h="457200">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Board and shareholders</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Risk management, fiduciary duty</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Criminal liability is off the table; governance obligations met</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Employees (85 staff)</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Job security, long term</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A sustainable reputation is what secures the next contract, and the one after that</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Community</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A health centre and housing they need</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Fair procurement gives them the best contractor, not the one with the best connection</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Avondale County Council</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Procurement integrity</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Early disclosure limits their own legal exposure too</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Industry and CIOB</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Professional standards</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Construction has already taken enough reputational hits on procurement.</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Richard Hale</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Friendship, personal interest</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Staying quiet could protect him but if this surfaces, Greenfield's silence is a problem. Early intervention may limit the damage to him.</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319"/>
        </a:solidFill>
        <a:effectLst/>
      </p:bgPr>
    </p:bg>
    <p:spTree>
      <p:nvGrpSpPr>
        <p:cNvPr id="1" name=""/>
        <p:cNvGrpSpPr/>
        <p:nvPr/>
      </p:nvGrpSpPr>
      <p:grpSpPr>
        <a:xfrm>
          <a:off x="0" y="0"/>
          <a:ext cx="0" cy="0"/>
          <a:chOff x="0" y="0"/>
          <a:chExt cx="0" cy="0"/>
        </a:xfrm>
      </p:grpSpPr>
      <p:sp>
        <p:nvSpPr>
          <p:cNvPr id="2" name="Text 0"/>
          <p:cNvSpPr/>
          <p:nvPr/>
        </p:nvSpPr>
        <p:spPr>
          <a:xfrm>
            <a:off x="502920" y="182880"/>
            <a:ext cx="8046720" cy="256032"/>
          </a:xfrm>
          <a:prstGeom prst="rect">
            <a:avLst/>
          </a:prstGeom>
          <a:noFill/>
          <a:ln/>
        </p:spPr>
        <p:txBody>
          <a:bodyPr wrap="square" lIns="0" tIns="0" rIns="0" bIns="0" rtlCol="0" anchor="ctr"/>
          <a:lstStyle/>
          <a:p>
            <a:pPr marL="0" indent="0" algn="l">
              <a:buNone/>
            </a:pPr>
            <a:r>
              <a:rPr lang="en-US" sz="1000" kern="0" spc="200" dirty="0">
                <a:solidFill>
                  <a:srgbClr val="485568"/>
                </a:solidFill>
                <a:latin typeface="Calibri" pitchFamily="34" charset="0"/>
                <a:ea typeface="Calibri" pitchFamily="34" charset="-122"/>
                <a:cs typeface="Calibri" pitchFamily="34" charset="-120"/>
              </a:rPr>
              <a:t>Conclusion</a:t>
            </a:r>
            <a:endParaRPr lang="en-US" sz="1000" dirty="0"/>
          </a:p>
        </p:txBody>
      </p:sp>
      <p:sp>
        <p:nvSpPr>
          <p:cNvPr id="3" name="Text 1"/>
          <p:cNvSpPr/>
          <p:nvPr/>
        </p:nvSpPr>
        <p:spPr>
          <a:xfrm>
            <a:off x="502920" y="502920"/>
            <a:ext cx="8229600" cy="1417320"/>
          </a:xfrm>
          <a:prstGeom prst="rect">
            <a:avLst/>
          </a:prstGeom>
          <a:noFill/>
          <a:ln/>
        </p:spPr>
        <p:txBody>
          <a:bodyPr wrap="square" lIns="0" tIns="0" rIns="0" bIns="0" rtlCol="0" anchor="t"/>
          <a:lstStyle/>
          <a:p>
            <a:pPr marL="0" indent="0" algn="l">
              <a:buNone/>
            </a:pPr>
            <a:r>
              <a:rPr lang="en-US" sz="3600" b="1" dirty="0">
                <a:solidFill>
                  <a:srgbClr val="FFFFFF"/>
                </a:solidFill>
                <a:latin typeface="+mj-lt"/>
                <a:ea typeface="Georgia" pitchFamily="34" charset="-122"/>
                <a:cs typeface="Georgia" pitchFamily="34" charset="-120"/>
              </a:rPr>
              <a:t>Your next contract depends on</a:t>
            </a:r>
            <a:endParaRPr lang="en-US" sz="3600" dirty="0">
              <a:latin typeface="+mj-lt"/>
            </a:endParaRPr>
          </a:p>
          <a:p>
            <a:pPr marL="0" indent="0" algn="l">
              <a:buNone/>
            </a:pPr>
            <a:r>
              <a:rPr lang="en-US" sz="3600" b="1" dirty="0">
                <a:solidFill>
                  <a:srgbClr val="FFFFFF"/>
                </a:solidFill>
                <a:latin typeface="+mj-lt"/>
                <a:ea typeface="Georgia" pitchFamily="34" charset="-122"/>
                <a:cs typeface="Georgia" pitchFamily="34" charset="-120"/>
              </a:rPr>
              <a:t>how you handle this one.</a:t>
            </a:r>
            <a:endParaRPr lang="en-US" sz="3600" dirty="0">
              <a:latin typeface="+mj-lt"/>
            </a:endParaRPr>
          </a:p>
        </p:txBody>
      </p:sp>
      <p:sp>
        <p:nvSpPr>
          <p:cNvPr id="4" name="Text 2"/>
          <p:cNvSpPr/>
          <p:nvPr/>
        </p:nvSpPr>
        <p:spPr>
          <a:xfrm>
            <a:off x="502920" y="2103120"/>
            <a:ext cx="8046720" cy="2743200"/>
          </a:xfrm>
          <a:prstGeom prst="rect">
            <a:avLst/>
          </a:prstGeom>
          <a:noFill/>
          <a:ln/>
        </p:spPr>
        <p:txBody>
          <a:bodyPr wrap="square" lIns="0" tIns="0" rIns="0" bIns="0" rtlCol="0" anchor="t"/>
          <a:lstStyle/>
          <a:p>
            <a:pPr marL="0" indent="0" algn="l">
              <a:lnSpc>
                <a:spcPct val="125000"/>
              </a:lnSpc>
              <a:buNone/>
            </a:pPr>
            <a:r>
              <a:rPr lang="en-US" sz="1350" dirty="0">
                <a:solidFill>
                  <a:srgbClr val="C8CDD4"/>
                </a:solidFill>
                <a:latin typeface="Calibri" pitchFamily="34" charset="0"/>
                <a:ea typeface="Calibri" pitchFamily="34" charset="-122"/>
                <a:cs typeface="Calibri" pitchFamily="34" charset="-120"/>
              </a:rPr>
              <a:t>Two frameworks and one answer.</a:t>
            </a:r>
            <a:endParaRPr lang="en-US" sz="1350" dirty="0"/>
          </a:p>
          <a:p>
            <a:pPr marL="0" indent="0" algn="l">
              <a:lnSpc>
                <a:spcPct val="125000"/>
              </a:lnSpc>
              <a:buNone/>
            </a:pPr>
            <a:r>
              <a:rPr lang="en-US" sz="600" dirty="0">
                <a:solidFill>
                  <a:srgbClr val="C8CDD4"/>
                </a:solidFill>
                <a:latin typeface="Calibri" pitchFamily="34" charset="0"/>
                <a:ea typeface="Calibri" pitchFamily="34" charset="-122"/>
                <a:cs typeface="Calibri" pitchFamily="34" charset="-120"/>
              </a:rPr>
              <a:t> </a:t>
            </a:r>
            <a:endParaRPr lang="en-US" sz="1350" dirty="0"/>
          </a:p>
          <a:p>
            <a:pPr marL="0" indent="0" algn="l">
              <a:lnSpc>
                <a:spcPct val="125000"/>
              </a:lnSpc>
              <a:buNone/>
            </a:pPr>
            <a:r>
              <a:rPr lang="en-US" sz="1350" dirty="0">
                <a:solidFill>
                  <a:srgbClr val="C8CDD4"/>
                </a:solidFill>
                <a:latin typeface="Calibri" pitchFamily="34" charset="0"/>
                <a:ea typeface="Calibri" pitchFamily="34" charset="-122"/>
                <a:cs typeface="Calibri" pitchFamily="34" charset="-120"/>
              </a:rPr>
              <a:t>The law is clear too. But the ethical case doesn't depend on it.</a:t>
            </a:r>
            <a:endParaRPr lang="en-US" sz="1350" dirty="0"/>
          </a:p>
          <a:p>
            <a:pPr marL="0" indent="0" algn="l">
              <a:lnSpc>
                <a:spcPct val="125000"/>
              </a:lnSpc>
              <a:buNone/>
            </a:pPr>
            <a:r>
              <a:rPr lang="en-US" sz="600" dirty="0">
                <a:solidFill>
                  <a:srgbClr val="C8CDD4"/>
                </a:solidFill>
                <a:latin typeface="Calibri" pitchFamily="34" charset="0"/>
                <a:ea typeface="Calibri" pitchFamily="34" charset="-122"/>
                <a:cs typeface="Calibri" pitchFamily="34" charset="-120"/>
              </a:rPr>
              <a:t> </a:t>
            </a:r>
            <a:endParaRPr lang="en-US" sz="1350" dirty="0"/>
          </a:p>
          <a:p>
            <a:pPr marL="0" indent="0" algn="l">
              <a:lnSpc>
                <a:spcPct val="125000"/>
              </a:lnSpc>
              <a:buNone/>
            </a:pPr>
            <a:r>
              <a:rPr lang="en-US" sz="1350" dirty="0">
                <a:solidFill>
                  <a:srgbClr val="C8CDD4"/>
                </a:solidFill>
                <a:latin typeface="Calibri" pitchFamily="34" charset="0"/>
                <a:ea typeface="Calibri" pitchFamily="34" charset="-122"/>
                <a:cs typeface="Calibri" pitchFamily="34" charset="-120"/>
              </a:rPr>
              <a:t>Greenfield's public sector strategy runs on its reputation. One contract is not worth the thing that gets you contracts.</a:t>
            </a:r>
            <a:endParaRPr lang="en-US" sz="1350" dirty="0"/>
          </a:p>
          <a:p>
            <a:pPr marL="0" indent="0" algn="l">
              <a:lnSpc>
                <a:spcPct val="125000"/>
              </a:lnSpc>
              <a:buNone/>
            </a:pPr>
            <a:r>
              <a:rPr lang="en-US" sz="600" dirty="0">
                <a:solidFill>
                  <a:srgbClr val="C8CDD4"/>
                </a:solidFill>
                <a:latin typeface="Calibri" pitchFamily="34" charset="0"/>
                <a:ea typeface="Calibri" pitchFamily="34" charset="-122"/>
                <a:cs typeface="Calibri" pitchFamily="34" charset="-120"/>
              </a:rPr>
              <a:t> </a:t>
            </a:r>
            <a:endParaRPr lang="en-US" sz="1350" dirty="0"/>
          </a:p>
          <a:p>
            <a:pPr marL="0" indent="0" algn="l">
              <a:lnSpc>
                <a:spcPct val="125000"/>
              </a:lnSpc>
              <a:buNone/>
            </a:pPr>
            <a:r>
              <a:rPr lang="en-US" sz="1350" dirty="0">
                <a:solidFill>
                  <a:srgbClr val="C8CDD4"/>
                </a:solidFill>
                <a:latin typeface="Calibri" pitchFamily="34" charset="0"/>
                <a:ea typeface="Calibri" pitchFamily="34" charset="-122"/>
                <a:cs typeface="Calibri" pitchFamily="34" charset="-120"/>
              </a:rPr>
              <a:t>Decline in writing. Get legal counsel on the phone. Report to the Council's monitoring officer.</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319"/>
        </a:solidFill>
        <a:effectLst/>
      </p:bgPr>
    </p:bg>
    <p:spTree>
      <p:nvGrpSpPr>
        <p:cNvPr id="1" name=""/>
        <p:cNvGrpSpPr/>
        <p:nvPr/>
      </p:nvGrpSpPr>
      <p:grpSpPr>
        <a:xfrm>
          <a:off x="0" y="0"/>
          <a:ext cx="0" cy="0"/>
          <a:chOff x="0" y="0"/>
          <a:chExt cx="0" cy="0"/>
        </a:xfrm>
      </p:grpSpPr>
      <p:sp>
        <p:nvSpPr>
          <p:cNvPr id="2" name="Text 0"/>
          <p:cNvSpPr/>
          <p:nvPr/>
        </p:nvSpPr>
        <p:spPr>
          <a:xfrm>
            <a:off x="502920" y="182880"/>
            <a:ext cx="8046720" cy="256032"/>
          </a:xfrm>
          <a:prstGeom prst="rect">
            <a:avLst/>
          </a:prstGeom>
          <a:noFill/>
          <a:ln/>
        </p:spPr>
        <p:txBody>
          <a:bodyPr wrap="square" lIns="0" tIns="0" rIns="0" bIns="0" rtlCol="0" anchor="ctr"/>
          <a:lstStyle/>
          <a:p>
            <a:pPr marL="0" indent="0" algn="l">
              <a:buNone/>
            </a:pPr>
            <a:r>
              <a:rPr lang="en-US" sz="900" b="1" kern="0" spc="200">
                <a:solidFill>
                  <a:srgbClr val="BF2C1F"/>
                </a:solidFill>
                <a:latin typeface="Calibri" pitchFamily="34" charset="0"/>
                <a:ea typeface="Calibri" pitchFamily="34" charset="-122"/>
                <a:cs typeface="Calibri" pitchFamily="34" charset="-120"/>
              </a:rPr>
              <a:t>REFERENCES</a:t>
            </a:r>
            <a:endParaRPr lang="en-US" sz="900" dirty="0"/>
          </a:p>
        </p:txBody>
      </p:sp>
      <p:sp>
        <p:nvSpPr>
          <p:cNvPr id="3" name="Text 1"/>
          <p:cNvSpPr/>
          <p:nvPr/>
        </p:nvSpPr>
        <p:spPr>
          <a:xfrm>
            <a:off x="502920" y="548640"/>
            <a:ext cx="8046720" cy="4389120"/>
          </a:xfrm>
          <a:prstGeom prst="rect">
            <a:avLst/>
          </a:prstGeom>
          <a:noFill/>
          <a:ln/>
        </p:spPr>
        <p:txBody>
          <a:bodyPr wrap="square" lIns="0" tIns="0" rIns="0" bIns="0" rtlCol="0" anchor="t"/>
          <a:lstStyle/>
          <a:p>
            <a:pPr marL="0" indent="0" algn="l">
              <a:lnSpc>
                <a:spcPct val="135000"/>
              </a:lnSpc>
              <a:buNone/>
            </a:pPr>
            <a:r>
              <a:rPr lang="en-US" sz="1050" dirty="0">
                <a:solidFill>
                  <a:srgbClr val="C8CDD4"/>
                </a:solidFill>
                <a:latin typeface="Calibri" pitchFamily="34" charset="0"/>
                <a:ea typeface="Calibri" pitchFamily="34" charset="-122"/>
                <a:cs typeface="Calibri" pitchFamily="34" charset="-120"/>
              </a:rPr>
              <a:t>Carroll, A.B. (1991) 'The Pyramid of Corporate Social Responsibility: Toward the Moral Management of Organizational Stakeholders', Business Horizons, 34(4), pp. 39–48.</a:t>
            </a:r>
            <a:endParaRPr lang="en-US" sz="1050" dirty="0"/>
          </a:p>
          <a:p>
            <a:pPr marL="0" indent="0" algn="l">
              <a:lnSpc>
                <a:spcPct val="135000"/>
              </a:lnSpc>
              <a:buNone/>
            </a:pPr>
            <a:r>
              <a:rPr lang="en-US" sz="1050" dirty="0">
                <a:solidFill>
                  <a:srgbClr val="C8CDD4"/>
                </a:solidFill>
                <a:latin typeface="Calibri" pitchFamily="34" charset="0"/>
                <a:ea typeface="Calibri" pitchFamily="34" charset="-122"/>
                <a:cs typeface="Calibri" pitchFamily="34" charset="-120"/>
              </a:rPr>
              <a:t>Crane, A. and Matten, D. (2019) Business Ethics: Managing Corporate Citizenship and Sustainability in the Age of Globalization. 5th </a:t>
            </a:r>
            <a:r>
              <a:rPr lang="en-US" sz="1050" dirty="0" err="1">
                <a:solidFill>
                  <a:srgbClr val="C8CDD4"/>
                </a:solidFill>
                <a:latin typeface="Calibri" pitchFamily="34" charset="0"/>
                <a:ea typeface="Calibri" pitchFamily="34" charset="-122"/>
                <a:cs typeface="Calibri" pitchFamily="34" charset="-120"/>
              </a:rPr>
              <a:t>edn</a:t>
            </a:r>
            <a:r>
              <a:rPr lang="en-US" sz="1050" dirty="0">
                <a:solidFill>
                  <a:srgbClr val="C8CDD4"/>
                </a:solidFill>
                <a:latin typeface="Calibri" pitchFamily="34" charset="0"/>
                <a:ea typeface="Calibri" pitchFamily="34" charset="-122"/>
                <a:cs typeface="Calibri" pitchFamily="34" charset="-120"/>
              </a:rPr>
              <a:t>. Oxford: Oxford University Press.</a:t>
            </a:r>
            <a:endParaRPr lang="en-US" sz="1050" dirty="0"/>
          </a:p>
          <a:p>
            <a:pPr marL="0" indent="0" algn="l">
              <a:lnSpc>
                <a:spcPct val="135000"/>
              </a:lnSpc>
              <a:buNone/>
            </a:pPr>
            <a:r>
              <a:rPr lang="en-US" sz="1050" dirty="0">
                <a:solidFill>
                  <a:srgbClr val="C8CDD4"/>
                </a:solidFill>
                <a:latin typeface="Calibri" pitchFamily="34" charset="0"/>
                <a:ea typeface="Calibri" pitchFamily="34" charset="-122"/>
                <a:cs typeface="Calibri" pitchFamily="34" charset="-120"/>
              </a:rPr>
              <a:t>Fisher, C. and Lovell, A. (2009) Business Ethics and Values: Individual, Corporate and International Perspectives. 3rd </a:t>
            </a:r>
            <a:r>
              <a:rPr lang="en-US" sz="1050" dirty="0" err="1">
                <a:solidFill>
                  <a:srgbClr val="C8CDD4"/>
                </a:solidFill>
                <a:latin typeface="Calibri" pitchFamily="34" charset="0"/>
                <a:ea typeface="Calibri" pitchFamily="34" charset="-122"/>
                <a:cs typeface="Calibri" pitchFamily="34" charset="-120"/>
              </a:rPr>
              <a:t>edn</a:t>
            </a:r>
            <a:r>
              <a:rPr lang="en-US" sz="1050" dirty="0">
                <a:solidFill>
                  <a:srgbClr val="C8CDD4"/>
                </a:solidFill>
                <a:latin typeface="Calibri" pitchFamily="34" charset="0"/>
                <a:ea typeface="Calibri" pitchFamily="34" charset="-122"/>
                <a:cs typeface="Calibri" pitchFamily="34" charset="-120"/>
              </a:rPr>
              <a:t>. Harlow: Pearson Education.</a:t>
            </a:r>
            <a:endParaRPr lang="en-US" sz="1050" dirty="0"/>
          </a:p>
          <a:p>
            <a:pPr marL="0" indent="0" algn="l">
              <a:lnSpc>
                <a:spcPct val="135000"/>
              </a:lnSpc>
              <a:buNone/>
            </a:pPr>
            <a:r>
              <a:rPr lang="en-US" sz="1050" dirty="0">
                <a:solidFill>
                  <a:srgbClr val="C8CDD4"/>
                </a:solidFill>
                <a:latin typeface="Calibri" pitchFamily="34" charset="0"/>
                <a:ea typeface="Calibri" pitchFamily="34" charset="-122"/>
                <a:cs typeface="Calibri" pitchFamily="34" charset="-120"/>
              </a:rPr>
              <a:t>Freeman, R.E. (1984) Strategic Management: A Stakeholder Approach. Boston: Pitman.</a:t>
            </a:r>
            <a:endParaRPr lang="en-US" sz="1050" dirty="0"/>
          </a:p>
          <a:p>
            <a:pPr marL="0" indent="0" algn="l">
              <a:lnSpc>
                <a:spcPct val="135000"/>
              </a:lnSpc>
              <a:buNone/>
            </a:pPr>
            <a:r>
              <a:rPr lang="en-US" sz="1050" dirty="0">
                <a:solidFill>
                  <a:srgbClr val="C8CDD4"/>
                </a:solidFill>
                <a:latin typeface="Calibri" pitchFamily="34" charset="0"/>
                <a:ea typeface="Calibri" pitchFamily="34" charset="-122"/>
                <a:cs typeface="Calibri" pitchFamily="34" charset="-120"/>
              </a:rPr>
              <a:t>HM Government (2010) Bribery Act 2010. London: The Stationery Office. Available at: https://www.legislation.gov.uk/ukpga/2010/23/contents (Accessed: 19 March 2026).</a:t>
            </a:r>
            <a:endParaRPr lang="en-US" sz="1050" dirty="0"/>
          </a:p>
          <a:p>
            <a:pPr marL="0" indent="0" algn="l">
              <a:lnSpc>
                <a:spcPct val="135000"/>
              </a:lnSpc>
              <a:buNone/>
            </a:pPr>
            <a:r>
              <a:rPr lang="en-US" sz="1050" dirty="0">
                <a:solidFill>
                  <a:srgbClr val="C8CDD4"/>
                </a:solidFill>
                <a:latin typeface="Calibri" pitchFamily="34" charset="0"/>
                <a:ea typeface="Calibri" pitchFamily="34" charset="-122"/>
                <a:cs typeface="Calibri" pitchFamily="34" charset="-120"/>
              </a:rPr>
              <a:t>HM Government (2023) Procurement Act 2023. London: The Stationery Office. Available at: https://www.legislation.gov.uk/ukpga/2023/54/contents (Accessed: 19 March 2026).</a:t>
            </a:r>
            <a:endParaRPr lang="en-US" sz="1050" dirty="0"/>
          </a:p>
          <a:p>
            <a:pPr marL="0" indent="0" algn="l">
              <a:lnSpc>
                <a:spcPct val="135000"/>
              </a:lnSpc>
              <a:buNone/>
            </a:pPr>
            <a:r>
              <a:rPr lang="en-US" sz="1050" dirty="0">
                <a:solidFill>
                  <a:srgbClr val="C8CDD4"/>
                </a:solidFill>
                <a:latin typeface="Calibri" pitchFamily="34" charset="0"/>
                <a:ea typeface="Calibri" pitchFamily="34" charset="-122"/>
                <a:cs typeface="Calibri" pitchFamily="34" charset="-120"/>
              </a:rPr>
              <a:t>Trevino, L.K. and Nelson, K.A. (2021) Managing Business Ethics: Straight Talk about How to Do It Right. 8th </a:t>
            </a:r>
            <a:r>
              <a:rPr lang="en-US" sz="1050" dirty="0" err="1">
                <a:solidFill>
                  <a:srgbClr val="C8CDD4"/>
                </a:solidFill>
                <a:latin typeface="Calibri" pitchFamily="34" charset="0"/>
                <a:ea typeface="Calibri" pitchFamily="34" charset="-122"/>
                <a:cs typeface="Calibri" pitchFamily="34" charset="-120"/>
              </a:rPr>
              <a:t>edn</a:t>
            </a:r>
            <a:r>
              <a:rPr lang="en-US" sz="1050" dirty="0">
                <a:solidFill>
                  <a:srgbClr val="C8CDD4"/>
                </a:solidFill>
                <a:latin typeface="Calibri" pitchFamily="34" charset="0"/>
                <a:ea typeface="Calibri" pitchFamily="34" charset="-122"/>
                <a:cs typeface="Calibri" pitchFamily="34" charset="-120"/>
              </a:rPr>
              <a:t>. Hoboken, NJ: Wiley.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320</TotalTime>
  <Words>3188</Words>
  <Application>Microsoft Office PowerPoint</Application>
  <PresentationFormat>On-screen Show (16:9)</PresentationFormat>
  <Paragraphs>169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Zohaib Shahzada (student)</cp:lastModifiedBy>
  <cp:revision>2</cp:revision>
  <dcterms:created xsi:type="dcterms:W3CDTF">2026-03-20T03:58:44Z</dcterms:created>
  <dcterms:modified xsi:type="dcterms:W3CDTF">2026-03-20T09:48:54Z</dcterms:modified>
</cp:coreProperties>
</file>