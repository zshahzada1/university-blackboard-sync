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CA6C209-8700-417E-AD1A-6A9B34395AC8}" v="13" dt="2026-03-20T11:24:40.28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9982" autoAdjust="0"/>
    <p:restoredTop sz="84133" autoAdjust="0"/>
  </p:normalViewPr>
  <p:slideViewPr>
    <p:cSldViewPr snapToGrid="0" snapToObjects="1">
      <p:cViewPr varScale="1">
        <p:scale>
          <a:sx n="108" d="100"/>
          <a:sy n="108" d="100"/>
        </p:scale>
        <p:origin x="525" y="45"/>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18" Type="http://schemas.microsoft.com/office/2015/10/relationships/revisionInfo" Target="revisionInfo.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Zohaib Shahzada (student)" userId="adc578d5-9cf6-49ad-a4b5-e03d60512f03" providerId="ADAL" clId="{2429DE73-197E-4EA7-B5C7-7E45893DEF2C}"/>
    <pc:docChg chg="undo custSel modSld">
      <pc:chgData name="Zohaib Shahzada (student)" userId="adc578d5-9cf6-49ad-a4b5-e03d60512f03" providerId="ADAL" clId="{2429DE73-197E-4EA7-B5C7-7E45893DEF2C}" dt="2026-03-20T11:24:40.287" v="26"/>
      <pc:docMkLst>
        <pc:docMk/>
      </pc:docMkLst>
      <pc:sldChg chg="modNotesTx">
        <pc:chgData name="Zohaib Shahzada (student)" userId="adc578d5-9cf6-49ad-a4b5-e03d60512f03" providerId="ADAL" clId="{2429DE73-197E-4EA7-B5C7-7E45893DEF2C}" dt="2026-03-20T11:12:48.394" v="4" actId="313"/>
        <pc:sldMkLst>
          <pc:docMk/>
          <pc:sldMk cId="0" sldId="256"/>
        </pc:sldMkLst>
      </pc:sldChg>
      <pc:sldChg chg="modNotesTx">
        <pc:chgData name="Zohaib Shahzada (student)" userId="adc578d5-9cf6-49ad-a4b5-e03d60512f03" providerId="ADAL" clId="{2429DE73-197E-4EA7-B5C7-7E45893DEF2C}" dt="2026-03-20T11:24:17.636" v="25" actId="20577"/>
        <pc:sldMkLst>
          <pc:docMk/>
          <pc:sldMk cId="0" sldId="259"/>
        </pc:sldMkLst>
      </pc:sldChg>
      <pc:sldChg chg="addSp delSp modSp mod">
        <pc:chgData name="Zohaib Shahzada (student)" userId="adc578d5-9cf6-49ad-a4b5-e03d60512f03" providerId="ADAL" clId="{2429DE73-197E-4EA7-B5C7-7E45893DEF2C}" dt="2026-03-20T11:15:46.050" v="16" actId="1076"/>
        <pc:sldMkLst>
          <pc:docMk/>
          <pc:sldMk cId="0" sldId="261"/>
        </pc:sldMkLst>
        <pc:spChg chg="add del">
          <ac:chgData name="Zohaib Shahzada (student)" userId="adc578d5-9cf6-49ad-a4b5-e03d60512f03" providerId="ADAL" clId="{2429DE73-197E-4EA7-B5C7-7E45893DEF2C}" dt="2026-03-20T11:14:31.825" v="6" actId="22"/>
          <ac:spMkLst>
            <pc:docMk/>
            <pc:sldMk cId="0" sldId="261"/>
            <ac:spMk id="8" creationId="{12209947-507C-52D7-8C9C-C432662E47A8}"/>
          </ac:spMkLst>
        </pc:spChg>
        <pc:spChg chg="add del">
          <ac:chgData name="Zohaib Shahzada (student)" userId="adc578d5-9cf6-49ad-a4b5-e03d60512f03" providerId="ADAL" clId="{2429DE73-197E-4EA7-B5C7-7E45893DEF2C}" dt="2026-03-20T11:15:26.222" v="13" actId="478"/>
          <ac:spMkLst>
            <pc:docMk/>
            <pc:sldMk cId="0" sldId="261"/>
            <ac:spMk id="10" creationId="{6A94DBD3-FAAE-3256-C803-1E6512BA5249}"/>
          </ac:spMkLst>
        </pc:spChg>
        <pc:picChg chg="add del mod">
          <ac:chgData name="Zohaib Shahzada (student)" userId="adc578d5-9cf6-49ad-a4b5-e03d60512f03" providerId="ADAL" clId="{2429DE73-197E-4EA7-B5C7-7E45893DEF2C}" dt="2026-03-20T11:14:44.862" v="9" actId="478"/>
          <ac:picMkLst>
            <pc:docMk/>
            <pc:sldMk cId="0" sldId="261"/>
            <ac:picMk id="1026" creationId="{2736ED98-8F0B-2B2C-86AA-9BF2A1CF6419}"/>
          </ac:picMkLst>
        </pc:picChg>
        <pc:picChg chg="add del">
          <ac:chgData name="Zohaib Shahzada (student)" userId="adc578d5-9cf6-49ad-a4b5-e03d60512f03" providerId="ADAL" clId="{2429DE73-197E-4EA7-B5C7-7E45893DEF2C}" dt="2026-03-20T11:15:15.681" v="11" actId="478"/>
          <ac:picMkLst>
            <pc:docMk/>
            <pc:sldMk cId="0" sldId="261"/>
            <ac:picMk id="1028" creationId="{8A9C4ED5-3D37-5112-8A37-71E401909208}"/>
          </ac:picMkLst>
        </pc:picChg>
        <pc:picChg chg="add mod">
          <ac:chgData name="Zohaib Shahzada (student)" userId="adc578d5-9cf6-49ad-a4b5-e03d60512f03" providerId="ADAL" clId="{2429DE73-197E-4EA7-B5C7-7E45893DEF2C}" dt="2026-03-20T11:15:46.050" v="16" actId="1076"/>
          <ac:picMkLst>
            <pc:docMk/>
            <pc:sldMk cId="0" sldId="261"/>
            <ac:picMk id="1030" creationId="{065E9205-264A-913B-A576-C0AB5A24FA05}"/>
          </ac:picMkLst>
        </pc:picChg>
      </pc:sldChg>
      <pc:sldChg chg="addSp modSp">
        <pc:chgData name="Zohaib Shahzada (student)" userId="adc578d5-9cf6-49ad-a4b5-e03d60512f03" providerId="ADAL" clId="{2429DE73-197E-4EA7-B5C7-7E45893DEF2C}" dt="2026-03-20T11:17:00.367" v="19" actId="1076"/>
        <pc:sldMkLst>
          <pc:docMk/>
          <pc:sldMk cId="0" sldId="262"/>
        </pc:sldMkLst>
        <pc:picChg chg="add mod">
          <ac:chgData name="Zohaib Shahzada (student)" userId="adc578d5-9cf6-49ad-a4b5-e03d60512f03" providerId="ADAL" clId="{2429DE73-197E-4EA7-B5C7-7E45893DEF2C}" dt="2026-03-20T11:17:00.367" v="19" actId="1076"/>
          <ac:picMkLst>
            <pc:docMk/>
            <pc:sldMk cId="0" sldId="262"/>
            <ac:picMk id="2050" creationId="{E0FCECFD-8966-759D-AD9E-6E43D696BD22}"/>
          </ac:picMkLst>
        </pc:picChg>
      </pc:sldChg>
      <pc:sldChg chg="modSp">
        <pc:chgData name="Zohaib Shahzada (student)" userId="adc578d5-9cf6-49ad-a4b5-e03d60512f03" providerId="ADAL" clId="{2429DE73-197E-4EA7-B5C7-7E45893DEF2C}" dt="2026-03-20T11:24:40.287" v="26"/>
        <pc:sldMkLst>
          <pc:docMk/>
          <pc:sldMk cId="0" sldId="265"/>
        </pc:sldMkLst>
        <pc:spChg chg="mod">
          <ac:chgData name="Zohaib Shahzada (student)" userId="adc578d5-9cf6-49ad-a4b5-e03d60512f03" providerId="ADAL" clId="{2429DE73-197E-4EA7-B5C7-7E45893DEF2C}" dt="2026-03-20T11:24:40.287" v="26"/>
          <ac:spMkLst>
            <pc:docMk/>
            <pc:sldMk cId="0" sldId="265"/>
            <ac:spMk id="3"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55307811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My name is Zohaib and Greenfield brought me in after the situation in January to give the Board a clear picture of what they’re dealing with and what the options are. We have no commercial stake in the outcome. Run through: what happened, the legal exposure, three options, and what </a:t>
            </a:r>
            <a:r>
              <a:rPr lang="en-GB"/>
              <a:t>we recommend.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Keep this brief. David made the right call by not responding and bringing this to the Board, it keeps options open and legal. Read the question  panel on the right out loud, let it make its impact, then move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Don't rush this slide. The Board needs to understand the matter before you get to the options. Richard isn’t just beating about the bush, he’s offering specific scores and a competitor's submission. That distinction is what triggers the Bribery Act. On the stakes: the £2.4m investment is real, don't brush past it. On the community: health inequalities, housing shortage are worth saying out loud as this isn't just corporate risk.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The Board may not grasp how broad the Bribery Act is. Section 1: the offer of employment doesn't need to be accepted, making the offer is already an offence. Section 2: receiving the insider data in this context can constitute acceptance of an advantage. Section 7: even if David personally declines, the company still faces exposure without demonstrable adequate procedures in place. On the Procurement Act: debarment is the really damaging consequence as Greenfield's entire public sector strategy depends on those contracts. Read the bottom line out loud.</a:t>
            </a:r>
            <a:br>
              <a:rPr lang="en-GB" dirty="0"/>
            </a:br>
            <a:br>
              <a:rPr lang="en-GB" dirty="0"/>
            </a:br>
            <a:r>
              <a:rPr lang="en-GB" dirty="0"/>
              <a:t>PS. Section 7 (the corporate offence) carries an unlimited fine only, not imprisonment.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Don't signal the answer yet, just let them sit with all three. On A: acknowledge the appeal honestly, the contract is significant, but the legal risk is existential, not a technicality. On B: it feels like the safe move but it isn’t, as silence can look like complicity if this surfaces another way, and someone usually talks. On C: the short-term cost is real, don't minimise it. Slides 6 and 7 build the case.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Bentham and Mill - greatest good for the greatest number, counting everyone affected, not just Greenfield. On A: short-term gain detrimental costs if it surfaces. Even statistically it’s not a ‘worthwhile’ risk. On C: lose this contract, keep the pipeline and the reputation. Worth it on the numbers. Name the limitation: a strict utilitarian might calculate differently if detection felt near to zero.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Unlike utilitarianism, Kant doesn't care about consequences, an action is right or wrong in itself. Test 1: ask them out loud if every company in a public tender took insider information when offered, what happens to procurement? The rule can't be universalised. Test 2: Richard's offer uses the Council, Harmon, and the community as instruments and Kant rules that out. Greenfield's own "building with integrity" commitment carries weight here. Carroll makes the same point: ethical responsibilities sit above economic ones. Key contrast with utilitarianism: this answer doesn't change if the odds of getting caught</a:t>
            </a:r>
          </a:p>
          <a:p>
            <a:r>
              <a:rPr lang="en-GB" dirty="0"/>
              <a:t>   were zero.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State the recommendation clearly. Two different frameworks reached the same answer by different routes, which is worth pointing out so it doesn't look like one theory being cherry-picked. On employees: 85 jobs on this project isn't the same as long-term security. On the community: health inequalities and housing, say it directly. On Richard: this is the awkward part; acknowledge it as staying quiet doesn't actually protect him. Early disclosure is probably better for him too. Leave the Board with four actions: David writes to Richard in writing</a:t>
            </a:r>
          </a:p>
          <a:p>
            <a:r>
              <a:rPr lang="en-GB" dirty="0"/>
              <a:t>  today; legal counsel on disclosure obligations; report to the monitoring officer and also a reminder to build defence for s.7.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No hedging. Reputation is what gets Greenfield back in the room for the next contract, this one isn't worth trading it. Walk through the logic briefly: A means prosecution and debarment; B feels safer but someone usually talks; C is the only one that holds up. Leave them with the four actions from the previous slide and invite any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319"/>
        </a:solidFill>
        <a:effectLst/>
      </p:bgPr>
    </p:bg>
    <p:spTree>
      <p:nvGrpSpPr>
        <p:cNvPr id="1" name=""/>
        <p:cNvGrpSpPr/>
        <p:nvPr/>
      </p:nvGrpSpPr>
      <p:grpSpPr>
        <a:xfrm>
          <a:off x="0" y="0"/>
          <a:ext cx="0" cy="0"/>
          <a:chOff x="0" y="0"/>
          <a:chExt cx="0" cy="0"/>
        </a:xfrm>
      </p:grpSpPr>
      <p:sp>
        <p:nvSpPr>
          <p:cNvPr id="3" name="Text 1"/>
          <p:cNvSpPr/>
          <p:nvPr/>
        </p:nvSpPr>
        <p:spPr>
          <a:xfrm>
            <a:off x="502920" y="960120"/>
            <a:ext cx="8229600" cy="1737360"/>
          </a:xfrm>
          <a:prstGeom prst="rect">
            <a:avLst/>
          </a:prstGeom>
          <a:noFill/>
          <a:ln/>
        </p:spPr>
        <p:txBody>
          <a:bodyPr wrap="square" lIns="0" tIns="0" rIns="0" bIns="0" rtlCol="0" anchor="t"/>
          <a:lstStyle/>
          <a:p>
            <a:pPr marL="0" indent="0" algn="l">
              <a:buNone/>
            </a:pPr>
            <a:r>
              <a:rPr lang="en-US" sz="4200" b="1" dirty="0">
                <a:solidFill>
                  <a:srgbClr val="FFFFFF"/>
                </a:solidFill>
                <a:latin typeface="+mj-lt"/>
                <a:ea typeface="Georgia" pitchFamily="34" charset="-122"/>
                <a:cs typeface="Georgia" pitchFamily="34" charset="-120"/>
              </a:rPr>
              <a:t>Responding to</a:t>
            </a:r>
            <a:endParaRPr lang="en-US" sz="4200" dirty="0">
              <a:latin typeface="+mj-lt"/>
            </a:endParaRPr>
          </a:p>
          <a:p>
            <a:pPr marL="0" indent="0" algn="l">
              <a:buNone/>
            </a:pPr>
            <a:r>
              <a:rPr lang="en-US" sz="4200" b="1" dirty="0">
                <a:solidFill>
                  <a:srgbClr val="FFFFFF"/>
                </a:solidFill>
                <a:latin typeface="+mj-lt"/>
                <a:ea typeface="Georgia" pitchFamily="34" charset="-122"/>
                <a:cs typeface="Georgia" pitchFamily="34" charset="-120"/>
              </a:rPr>
              <a:t>procurement misconduct</a:t>
            </a:r>
            <a:endParaRPr lang="en-US" sz="4200" dirty="0">
              <a:latin typeface="+mj-lt"/>
            </a:endParaRPr>
          </a:p>
        </p:txBody>
      </p:sp>
      <p:sp>
        <p:nvSpPr>
          <p:cNvPr id="4" name="Text 2"/>
          <p:cNvSpPr/>
          <p:nvPr/>
        </p:nvSpPr>
        <p:spPr>
          <a:xfrm>
            <a:off x="502920" y="2788920"/>
            <a:ext cx="8046720" cy="347472"/>
          </a:xfrm>
          <a:prstGeom prst="rect">
            <a:avLst/>
          </a:prstGeom>
          <a:noFill/>
          <a:ln/>
        </p:spPr>
        <p:txBody>
          <a:bodyPr wrap="square" lIns="0" tIns="0" rIns="0" bIns="0" rtlCol="0" anchor="ctr"/>
          <a:lstStyle/>
          <a:p>
            <a:pPr marL="0" indent="0" algn="l">
              <a:buNone/>
            </a:pPr>
            <a:r>
              <a:rPr lang="en-US" sz="1350" dirty="0">
                <a:solidFill>
                  <a:srgbClr val="BF2C1F"/>
                </a:solidFill>
                <a:latin typeface="Calibri" pitchFamily="34" charset="0"/>
                <a:ea typeface="Calibri" pitchFamily="34" charset="-122"/>
                <a:cs typeface="Calibri" pitchFamily="34" charset="-120"/>
              </a:rPr>
              <a:t>Greenfield Construction Ltd · Board advisory presentation</a:t>
            </a:r>
            <a:endParaRPr lang="en-US" sz="1350" dirty="0"/>
          </a:p>
        </p:txBody>
      </p:sp>
      <p:sp>
        <p:nvSpPr>
          <p:cNvPr id="5" name="Text 3"/>
          <p:cNvSpPr/>
          <p:nvPr/>
        </p:nvSpPr>
        <p:spPr>
          <a:xfrm>
            <a:off x="502920" y="3182112"/>
            <a:ext cx="8046720" cy="292608"/>
          </a:xfrm>
          <a:prstGeom prst="rect">
            <a:avLst/>
          </a:prstGeom>
          <a:noFill/>
          <a:ln/>
        </p:spPr>
        <p:txBody>
          <a:bodyPr wrap="square" lIns="0" tIns="0" rIns="0" bIns="0" rtlCol="0" anchor="ctr"/>
          <a:lstStyle/>
          <a:p>
            <a:pPr marL="0" indent="0" algn="l">
              <a:buNone/>
            </a:pPr>
            <a:r>
              <a:rPr lang="en-US" sz="1100" dirty="0">
                <a:solidFill>
                  <a:srgbClr val="4A5568"/>
                </a:solidFill>
                <a:latin typeface="Calibri" pitchFamily="34" charset="0"/>
                <a:ea typeface="Calibri" pitchFamily="34" charset="-122"/>
                <a:cs typeface="Calibri" pitchFamily="34" charset="-120"/>
              </a:rPr>
              <a:t>Bribery Act 2010  ·  Procurement Act 2023</a:t>
            </a:r>
            <a:endParaRPr lang="en-US" sz="1100" dirty="0"/>
          </a:p>
        </p:txBody>
      </p:sp>
      <p:sp>
        <p:nvSpPr>
          <p:cNvPr id="6" name="Text 4"/>
          <p:cNvSpPr/>
          <p:nvPr/>
        </p:nvSpPr>
        <p:spPr>
          <a:xfrm>
            <a:off x="502920" y="4754880"/>
            <a:ext cx="8046720" cy="256032"/>
          </a:xfrm>
          <a:prstGeom prst="rect">
            <a:avLst/>
          </a:prstGeom>
          <a:noFill/>
          <a:ln/>
        </p:spPr>
        <p:txBody>
          <a:bodyPr wrap="square" lIns="0" tIns="0" rIns="0" bIns="0" rtlCol="0" anchor="ctr"/>
          <a:lstStyle/>
          <a:p>
            <a:pPr marL="0" indent="0" algn="l">
              <a:buNone/>
            </a:pPr>
            <a:r>
              <a:rPr lang="en-US" sz="1000" dirty="0">
                <a:solidFill>
                  <a:srgbClr val="374151"/>
                </a:solidFill>
                <a:latin typeface="Calibri" pitchFamily="34" charset="0"/>
                <a:ea typeface="Calibri" pitchFamily="34" charset="-122"/>
                <a:cs typeface="Calibri" pitchFamily="34" charset="-120"/>
              </a:rPr>
              <a:t>March 2026</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228600" y="91440"/>
            <a:ext cx="8549640" cy="411480"/>
          </a:xfrm>
          <a:prstGeom prst="rect">
            <a:avLst/>
          </a:prstGeom>
          <a:noFill/>
          <a:ln/>
        </p:spPr>
        <p:txBody>
          <a:bodyPr wrap="square" lIns="0" tIns="0" rIns="0" bIns="0" rtlCol="0" anchor="ctr"/>
          <a:lstStyle/>
          <a:p>
            <a:pPr marL="0" indent="0" algn="l">
              <a:buNone/>
            </a:pPr>
            <a:r>
              <a:rPr lang="en-US" sz="2000" b="1" dirty="0">
                <a:solidFill>
                  <a:srgbClr val="151515"/>
                </a:solidFill>
                <a:latin typeface="Calibri" pitchFamily="34" charset="0"/>
                <a:ea typeface="Calibri" pitchFamily="34" charset="-122"/>
                <a:cs typeface="Calibri" pitchFamily="34" charset="-120"/>
              </a:rPr>
              <a:t>Who we are and why we're here</a:t>
            </a:r>
            <a:endParaRPr lang="en-US" sz="2000" dirty="0"/>
          </a:p>
        </p:txBody>
      </p:sp>
      <p:sp>
        <p:nvSpPr>
          <p:cNvPr id="3" name="Text 1"/>
          <p:cNvSpPr/>
          <p:nvPr/>
        </p:nvSpPr>
        <p:spPr>
          <a:xfrm>
            <a:off x="457200" y="594360"/>
            <a:ext cx="3749040" cy="228600"/>
          </a:xfrm>
          <a:prstGeom prst="rect">
            <a:avLst/>
          </a:prstGeom>
          <a:noFill/>
          <a:ln/>
        </p:spPr>
        <p:txBody>
          <a:bodyPr wrap="square" lIns="0" tIns="0" rIns="0" bIns="0" rtlCol="0" anchor="ctr"/>
          <a:lstStyle/>
          <a:p>
            <a:pPr marL="0" indent="0" algn="l">
              <a:buNone/>
            </a:pPr>
            <a:r>
              <a:rPr lang="en-US" sz="900" b="1" kern="0" spc="200" dirty="0">
                <a:solidFill>
                  <a:srgbClr val="BF2C1F"/>
                </a:solidFill>
                <a:latin typeface="Calibri" pitchFamily="34" charset="0"/>
                <a:ea typeface="Calibri" pitchFamily="34" charset="-122"/>
                <a:cs typeface="Calibri" pitchFamily="34" charset="-120"/>
              </a:rPr>
              <a:t>OUR ROLE</a:t>
            </a:r>
            <a:endParaRPr lang="en-US" sz="900" dirty="0"/>
          </a:p>
        </p:txBody>
      </p:sp>
      <p:sp>
        <p:nvSpPr>
          <p:cNvPr id="4" name="Text 2"/>
          <p:cNvSpPr/>
          <p:nvPr/>
        </p:nvSpPr>
        <p:spPr>
          <a:xfrm>
            <a:off x="457200" y="850392"/>
            <a:ext cx="3749040" cy="2560320"/>
          </a:xfrm>
          <a:prstGeom prst="rect">
            <a:avLst/>
          </a:prstGeom>
          <a:noFill/>
          <a:ln/>
        </p:spPr>
        <p:txBody>
          <a:bodyPr wrap="square" lIns="0" tIns="0" rIns="0" bIns="0" rtlCol="0" anchor="t"/>
          <a:lstStyle/>
          <a:p>
            <a:pPr marL="0" indent="0" algn="l">
              <a:lnSpc>
                <a:spcPct val="125000"/>
              </a:lnSpc>
              <a:buNone/>
            </a:pPr>
            <a:r>
              <a:rPr lang="en-US" sz="1200" dirty="0">
                <a:solidFill>
                  <a:srgbClr val="292929"/>
                </a:solidFill>
                <a:latin typeface="Calibri" pitchFamily="34" charset="0"/>
                <a:ea typeface="Calibri" pitchFamily="34" charset="-122"/>
                <a:cs typeface="Calibri" pitchFamily="34" charset="-120"/>
              </a:rPr>
              <a:t>We're independent ethics advisors. Greenfield brought us in after David received the call from Richard Hale on 6 January.</a:t>
            </a:r>
            <a:endParaRPr lang="en-US" sz="1200" dirty="0"/>
          </a:p>
          <a:p>
            <a:pPr marL="0" indent="0" algn="l">
              <a:lnSpc>
                <a:spcPct val="125000"/>
              </a:lnSpc>
              <a:buNone/>
            </a:pPr>
            <a:endParaRPr lang="en-US" sz="1200" dirty="0"/>
          </a:p>
          <a:p>
            <a:pPr marL="0" indent="0" algn="l">
              <a:lnSpc>
                <a:spcPct val="125000"/>
              </a:lnSpc>
              <a:buNone/>
            </a:pPr>
            <a:r>
              <a:rPr lang="en-US" sz="1200" dirty="0">
                <a:solidFill>
                  <a:srgbClr val="292929"/>
                </a:solidFill>
                <a:latin typeface="Calibri" pitchFamily="34" charset="0"/>
                <a:ea typeface="Calibri" pitchFamily="34" charset="-122"/>
                <a:cs typeface="Calibri" pitchFamily="34" charset="-120"/>
              </a:rPr>
              <a:t>Our job is to give the Board a straight read on the options. That means we'll give you an honest read, even where it's uncomfortable.</a:t>
            </a:r>
            <a:endParaRPr lang="en-US" sz="1200" dirty="0"/>
          </a:p>
          <a:p>
            <a:pPr marL="0" indent="0" algn="l">
              <a:lnSpc>
                <a:spcPct val="125000"/>
              </a:lnSpc>
              <a:buNone/>
            </a:pPr>
            <a:endParaRPr lang="en-US" sz="1200" dirty="0"/>
          </a:p>
          <a:p>
            <a:pPr marL="0" indent="0" algn="l">
              <a:lnSpc>
                <a:spcPct val="125000"/>
              </a:lnSpc>
              <a:buNone/>
            </a:pPr>
            <a:r>
              <a:rPr lang="en-US" sz="1200" dirty="0">
                <a:solidFill>
                  <a:srgbClr val="292929"/>
                </a:solidFill>
                <a:latin typeface="Calibri" pitchFamily="34" charset="0"/>
                <a:ea typeface="Calibri" pitchFamily="34" charset="-122"/>
                <a:cs typeface="Calibri" pitchFamily="34" charset="-120"/>
              </a:rPr>
              <a:t>We have no commercial interest in the outcome of the tender.</a:t>
            </a:r>
            <a:endParaRPr lang="en-US" sz="1200" dirty="0"/>
          </a:p>
        </p:txBody>
      </p:sp>
      <p:sp>
        <p:nvSpPr>
          <p:cNvPr id="5" name="Text 3"/>
          <p:cNvSpPr/>
          <p:nvPr/>
        </p:nvSpPr>
        <p:spPr>
          <a:xfrm>
            <a:off x="457200" y="3547872"/>
            <a:ext cx="3749040" cy="228600"/>
          </a:xfrm>
          <a:prstGeom prst="rect">
            <a:avLst/>
          </a:prstGeom>
          <a:noFill/>
          <a:ln/>
        </p:spPr>
        <p:txBody>
          <a:bodyPr wrap="square" lIns="0" tIns="0" rIns="0" bIns="0" rtlCol="0" anchor="ctr"/>
          <a:lstStyle/>
          <a:p>
            <a:pPr marL="0" indent="0" algn="l">
              <a:buNone/>
            </a:pPr>
            <a:r>
              <a:rPr lang="en-US" sz="900" b="1" kern="0" spc="200" dirty="0">
                <a:solidFill>
                  <a:srgbClr val="BF2C1F"/>
                </a:solidFill>
                <a:latin typeface="Calibri" pitchFamily="34" charset="0"/>
                <a:ea typeface="Calibri" pitchFamily="34" charset="-122"/>
                <a:cs typeface="Calibri" pitchFamily="34" charset="-120"/>
              </a:rPr>
              <a:t>TODAY'S AGENDA</a:t>
            </a:r>
            <a:endParaRPr lang="en-US" sz="900" dirty="0"/>
          </a:p>
        </p:txBody>
      </p:sp>
      <p:sp>
        <p:nvSpPr>
          <p:cNvPr id="6" name="Text 4"/>
          <p:cNvSpPr/>
          <p:nvPr/>
        </p:nvSpPr>
        <p:spPr>
          <a:xfrm>
            <a:off x="457200" y="3767328"/>
            <a:ext cx="3749040" cy="1325880"/>
          </a:xfrm>
          <a:prstGeom prst="rect">
            <a:avLst/>
          </a:prstGeom>
          <a:noFill/>
          <a:ln/>
        </p:spPr>
        <p:txBody>
          <a:bodyPr wrap="square" lIns="0" tIns="0" rIns="0" bIns="0" rtlCol="0" anchor="t"/>
          <a:lstStyle/>
          <a:p>
            <a:pPr marL="342900" indent="-342900" algn="l">
              <a:lnSpc>
                <a:spcPct val="125000"/>
              </a:lnSpc>
              <a:buSzPct val="100000"/>
              <a:buChar char="•"/>
            </a:pPr>
            <a:r>
              <a:rPr lang="en-US" sz="1200" dirty="0">
                <a:solidFill>
                  <a:srgbClr val="292929"/>
                </a:solidFill>
                <a:latin typeface="Calibri" pitchFamily="34" charset="0"/>
                <a:ea typeface="Calibri" pitchFamily="34" charset="-122"/>
                <a:cs typeface="Calibri" pitchFamily="34" charset="-120"/>
              </a:rPr>
              <a:t>What happened</a:t>
            </a:r>
            <a:endParaRPr lang="en-US" sz="1200" dirty="0"/>
          </a:p>
          <a:p>
            <a:pPr marL="342900" indent="-342900" algn="l">
              <a:lnSpc>
                <a:spcPct val="125000"/>
              </a:lnSpc>
              <a:buSzPct val="100000"/>
              <a:buChar char="•"/>
            </a:pPr>
            <a:r>
              <a:rPr lang="en-US" sz="1200" dirty="0">
                <a:solidFill>
                  <a:srgbClr val="292929"/>
                </a:solidFill>
                <a:latin typeface="Calibri" pitchFamily="34" charset="0"/>
                <a:ea typeface="Calibri" pitchFamily="34" charset="-122"/>
                <a:cs typeface="Calibri" pitchFamily="34" charset="-120"/>
              </a:rPr>
              <a:t>The legal exposure</a:t>
            </a:r>
            <a:endParaRPr lang="en-US" sz="1200" dirty="0"/>
          </a:p>
          <a:p>
            <a:pPr marL="342900" indent="-342900" algn="l">
              <a:lnSpc>
                <a:spcPct val="125000"/>
              </a:lnSpc>
              <a:buSzPct val="100000"/>
              <a:buChar char="•"/>
            </a:pPr>
            <a:r>
              <a:rPr lang="en-US" sz="1200" dirty="0">
                <a:solidFill>
                  <a:srgbClr val="292929"/>
                </a:solidFill>
                <a:latin typeface="Calibri" pitchFamily="34" charset="0"/>
                <a:ea typeface="Calibri" pitchFamily="34" charset="-122"/>
                <a:cs typeface="Calibri" pitchFamily="34" charset="-120"/>
              </a:rPr>
              <a:t>Three options, honestly assessed</a:t>
            </a:r>
            <a:endParaRPr lang="en-US" sz="1200" dirty="0"/>
          </a:p>
          <a:p>
            <a:pPr marL="342900" indent="-342900" algn="l">
              <a:lnSpc>
                <a:spcPct val="125000"/>
              </a:lnSpc>
              <a:buSzPct val="100000"/>
              <a:buChar char="•"/>
            </a:pPr>
            <a:r>
              <a:rPr lang="en-US" sz="1200" dirty="0">
                <a:solidFill>
                  <a:srgbClr val="292929"/>
                </a:solidFill>
                <a:latin typeface="Calibri" pitchFamily="34" charset="0"/>
                <a:ea typeface="Calibri" pitchFamily="34" charset="-122"/>
                <a:cs typeface="Calibri" pitchFamily="34" charset="-120"/>
              </a:rPr>
              <a:t>What we recommend, and why</a:t>
            </a:r>
            <a:endParaRPr lang="en-US" sz="1200" dirty="0"/>
          </a:p>
        </p:txBody>
      </p:sp>
      <p:sp>
        <p:nvSpPr>
          <p:cNvPr id="7" name="Text 5"/>
          <p:cNvSpPr/>
          <p:nvPr/>
        </p:nvSpPr>
        <p:spPr>
          <a:xfrm>
            <a:off x="4754880" y="594360"/>
            <a:ext cx="4023360" cy="228600"/>
          </a:xfrm>
          <a:prstGeom prst="rect">
            <a:avLst/>
          </a:prstGeom>
          <a:noFill/>
          <a:ln/>
        </p:spPr>
        <p:txBody>
          <a:bodyPr wrap="square" lIns="0" tIns="0" rIns="0" bIns="0" rtlCol="0" anchor="ctr"/>
          <a:lstStyle/>
          <a:p>
            <a:pPr marL="0" indent="0" algn="l">
              <a:buNone/>
            </a:pPr>
            <a:r>
              <a:rPr lang="en-US" sz="900" b="1" kern="0" spc="200" dirty="0">
                <a:solidFill>
                  <a:srgbClr val="BF2C1F"/>
                </a:solidFill>
                <a:latin typeface="Calibri" pitchFamily="34" charset="0"/>
                <a:ea typeface="Calibri" pitchFamily="34" charset="-122"/>
                <a:cs typeface="Calibri" pitchFamily="34" charset="-120"/>
              </a:rPr>
              <a:t>THE QUESTION</a:t>
            </a:r>
            <a:endParaRPr lang="en-US" sz="900" dirty="0"/>
          </a:p>
        </p:txBody>
      </p:sp>
      <p:sp>
        <p:nvSpPr>
          <p:cNvPr id="8" name="Text 6"/>
          <p:cNvSpPr/>
          <p:nvPr/>
        </p:nvSpPr>
        <p:spPr>
          <a:xfrm>
            <a:off x="4754880" y="850392"/>
            <a:ext cx="4023360" cy="914400"/>
          </a:xfrm>
          <a:prstGeom prst="rect">
            <a:avLst/>
          </a:prstGeom>
          <a:noFill/>
          <a:ln/>
        </p:spPr>
        <p:txBody>
          <a:bodyPr wrap="square" lIns="0" tIns="0" rIns="0" bIns="0" rtlCol="0" anchor="t"/>
          <a:lstStyle/>
          <a:p>
            <a:pPr marL="0" indent="0" algn="l">
              <a:lnSpc>
                <a:spcPct val="125000"/>
              </a:lnSpc>
              <a:buNone/>
            </a:pPr>
            <a:r>
              <a:rPr lang="en-US" sz="1200" dirty="0">
                <a:solidFill>
                  <a:srgbClr val="292929"/>
                </a:solidFill>
                <a:latin typeface="Calibri" pitchFamily="34" charset="0"/>
                <a:ea typeface="Calibri" pitchFamily="34" charset="-122"/>
                <a:cs typeface="Calibri" pitchFamily="34" charset="-120"/>
              </a:rPr>
              <a:t>Richard Hale is directly involved in evaluating your live Avondale tender. He has offered confidential scoring data and a competitor's submission in exchange for employing his son.</a:t>
            </a:r>
            <a:endParaRPr lang="en-US" sz="1200" dirty="0"/>
          </a:p>
        </p:txBody>
      </p:sp>
      <p:sp>
        <p:nvSpPr>
          <p:cNvPr id="9" name="Text 7"/>
          <p:cNvSpPr/>
          <p:nvPr/>
        </p:nvSpPr>
        <p:spPr>
          <a:xfrm>
            <a:off x="4754880" y="1874520"/>
            <a:ext cx="4023360" cy="457200"/>
          </a:xfrm>
          <a:prstGeom prst="rect">
            <a:avLst/>
          </a:prstGeom>
          <a:noFill/>
          <a:ln/>
        </p:spPr>
        <p:txBody>
          <a:bodyPr wrap="square" lIns="0" tIns="0" rIns="0" bIns="0" rtlCol="0" anchor="ctr"/>
          <a:lstStyle/>
          <a:p>
            <a:pPr marL="0" indent="0" algn="l">
              <a:buNone/>
            </a:pPr>
            <a:r>
              <a:rPr lang="en-US" sz="1600" i="1" dirty="0">
                <a:solidFill>
                  <a:srgbClr val="BF2C1F"/>
                </a:solidFill>
                <a:latin typeface="Calibri" pitchFamily="34" charset="0"/>
                <a:ea typeface="Calibri" pitchFamily="34" charset="-122"/>
                <a:cs typeface="Calibri" pitchFamily="34" charset="-120"/>
              </a:rPr>
              <a:t>Accept, stay quiet, or report it?</a:t>
            </a:r>
            <a:endParaRPr lang="en-US" sz="1600" dirty="0"/>
          </a:p>
        </p:txBody>
      </p:sp>
      <p:sp>
        <p:nvSpPr>
          <p:cNvPr id="10" name="Text 8"/>
          <p:cNvSpPr/>
          <p:nvPr/>
        </p:nvSpPr>
        <p:spPr>
          <a:xfrm>
            <a:off x="4754880" y="2468880"/>
            <a:ext cx="4023360" cy="2331720"/>
          </a:xfrm>
          <a:prstGeom prst="rect">
            <a:avLst/>
          </a:prstGeom>
          <a:noFill/>
          <a:ln/>
        </p:spPr>
        <p:txBody>
          <a:bodyPr wrap="square" lIns="0" tIns="0" rIns="0" bIns="0" rtlCol="0" anchor="t"/>
          <a:lstStyle/>
          <a:p>
            <a:pPr marL="0" indent="0" algn="l">
              <a:lnSpc>
                <a:spcPct val="125000"/>
              </a:lnSpc>
              <a:buNone/>
            </a:pPr>
            <a:r>
              <a:rPr lang="en-US" sz="1200" dirty="0">
                <a:solidFill>
                  <a:srgbClr val="292929"/>
                </a:solidFill>
                <a:latin typeface="Calibri" pitchFamily="34" charset="0"/>
                <a:ea typeface="Calibri" pitchFamily="34" charset="-122"/>
                <a:cs typeface="Calibri" pitchFamily="34" charset="-120"/>
              </a:rPr>
              <a:t>The Board hasn't responded yet. David made the right call in bringing this here before doing anything. That matters, both legally and practically.</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228600" y="91440"/>
            <a:ext cx="8549640" cy="411480"/>
          </a:xfrm>
          <a:prstGeom prst="rect">
            <a:avLst/>
          </a:prstGeom>
          <a:noFill/>
          <a:ln/>
        </p:spPr>
        <p:txBody>
          <a:bodyPr wrap="square" lIns="0" tIns="0" rIns="0" bIns="0" rtlCol="0" anchor="ctr"/>
          <a:lstStyle/>
          <a:p>
            <a:pPr marL="0" indent="0" algn="l">
              <a:buNone/>
            </a:pPr>
            <a:r>
              <a:rPr lang="en-US" sz="2000" b="1" dirty="0">
                <a:solidFill>
                  <a:srgbClr val="151515"/>
                </a:solidFill>
                <a:latin typeface="Calibri" pitchFamily="34" charset="0"/>
                <a:ea typeface="Calibri" pitchFamily="34" charset="-122"/>
                <a:cs typeface="Calibri" pitchFamily="34" charset="-120"/>
              </a:rPr>
              <a:t>What happened</a:t>
            </a:r>
            <a:endParaRPr lang="en-US" sz="2000" dirty="0"/>
          </a:p>
        </p:txBody>
      </p:sp>
      <p:sp>
        <p:nvSpPr>
          <p:cNvPr id="3" name="Text 1"/>
          <p:cNvSpPr/>
          <p:nvPr/>
        </p:nvSpPr>
        <p:spPr>
          <a:xfrm>
            <a:off x="457200" y="594360"/>
            <a:ext cx="3840480" cy="228600"/>
          </a:xfrm>
          <a:prstGeom prst="rect">
            <a:avLst/>
          </a:prstGeom>
          <a:noFill/>
          <a:ln/>
        </p:spPr>
        <p:txBody>
          <a:bodyPr wrap="square" lIns="0" tIns="0" rIns="0" bIns="0" rtlCol="0" anchor="ctr"/>
          <a:lstStyle/>
          <a:p>
            <a:pPr marL="0" indent="0" algn="l">
              <a:buNone/>
            </a:pPr>
            <a:r>
              <a:rPr lang="en-US" sz="900" b="1" kern="0" spc="200" dirty="0">
                <a:solidFill>
                  <a:srgbClr val="BF2C1F"/>
                </a:solidFill>
                <a:latin typeface="Calibri" pitchFamily="34" charset="0"/>
                <a:ea typeface="Calibri" pitchFamily="34" charset="-122"/>
                <a:cs typeface="Calibri" pitchFamily="34" charset="-120"/>
              </a:rPr>
              <a:t>WHAT RICHARD OFFERED</a:t>
            </a:r>
            <a:endParaRPr lang="en-US" sz="900" dirty="0"/>
          </a:p>
        </p:txBody>
      </p:sp>
      <p:sp>
        <p:nvSpPr>
          <p:cNvPr id="4" name="Text 2"/>
          <p:cNvSpPr/>
          <p:nvPr/>
        </p:nvSpPr>
        <p:spPr>
          <a:xfrm>
            <a:off x="457200" y="850392"/>
            <a:ext cx="3840480" cy="3931920"/>
          </a:xfrm>
          <a:prstGeom prst="rect">
            <a:avLst/>
          </a:prstGeom>
          <a:noFill/>
          <a:ln/>
        </p:spPr>
        <p:txBody>
          <a:bodyPr wrap="square" lIns="0" tIns="0" rIns="0" bIns="0" rtlCol="0" anchor="t"/>
          <a:lstStyle/>
          <a:p>
            <a:pPr marL="0" indent="0" algn="l">
              <a:lnSpc>
                <a:spcPct val="125000"/>
              </a:lnSpc>
              <a:buNone/>
            </a:pPr>
            <a:r>
              <a:rPr lang="en-US" sz="1200" dirty="0">
                <a:solidFill>
                  <a:srgbClr val="292929"/>
                </a:solidFill>
                <a:latin typeface="Calibri" pitchFamily="34" charset="0"/>
                <a:ea typeface="Calibri" pitchFamily="34" charset="-122"/>
                <a:cs typeface="Calibri" pitchFamily="34" charset="-120"/>
              </a:rPr>
              <a:t>Richard Hale is a senior quantity surveyor at Avondale County Council. He's been a business contact for years, and the Greenfield siblings consider him a friend. He's also directly involved in evaluating your £18.5m health centre tender.</a:t>
            </a:r>
            <a:endParaRPr lang="en-US" sz="1200" dirty="0"/>
          </a:p>
          <a:p>
            <a:pPr marL="0" indent="0" algn="l">
              <a:lnSpc>
                <a:spcPct val="125000"/>
              </a:lnSpc>
              <a:buNone/>
            </a:pPr>
            <a:endParaRPr lang="en-US" sz="1200" dirty="0"/>
          </a:p>
          <a:p>
            <a:pPr marL="0" indent="0" algn="l">
              <a:lnSpc>
                <a:spcPct val="125000"/>
              </a:lnSpc>
              <a:buNone/>
            </a:pPr>
            <a:r>
              <a:rPr lang="en-US" sz="1200" dirty="0">
                <a:solidFill>
                  <a:srgbClr val="292929"/>
                </a:solidFill>
                <a:latin typeface="Calibri" pitchFamily="34" charset="0"/>
                <a:ea typeface="Calibri" pitchFamily="34" charset="-122"/>
                <a:cs typeface="Calibri" pitchFamily="34" charset="-120"/>
              </a:rPr>
              <a:t>On 6 January he called David telling him that Greenfield is currently second. Harmon Developments is ahead on price and social value. Richard offered to share the full scoring breakdown and Harmon's social value submission. Enough to know exactly what to beat.</a:t>
            </a:r>
            <a:endParaRPr lang="en-US" sz="1200" dirty="0"/>
          </a:p>
          <a:p>
            <a:pPr marL="0" indent="0" algn="l">
              <a:lnSpc>
                <a:spcPct val="125000"/>
              </a:lnSpc>
              <a:buNone/>
            </a:pPr>
            <a:endParaRPr lang="en-US" sz="1200" dirty="0"/>
          </a:p>
          <a:p>
            <a:pPr marL="0" indent="0" algn="l">
              <a:lnSpc>
                <a:spcPct val="125000"/>
              </a:lnSpc>
              <a:buNone/>
            </a:pPr>
            <a:r>
              <a:rPr lang="en-US" sz="1200" dirty="0">
                <a:solidFill>
                  <a:srgbClr val="292929"/>
                </a:solidFill>
                <a:latin typeface="Calibri" pitchFamily="34" charset="0"/>
                <a:ea typeface="Calibri" pitchFamily="34" charset="-122"/>
                <a:cs typeface="Calibri" pitchFamily="34" charset="-120"/>
              </a:rPr>
              <a:t>In return: a job for his son. 'A favour between friends,' he said. 'This is just how things work.'</a:t>
            </a:r>
            <a:endParaRPr lang="en-US" sz="1200" dirty="0"/>
          </a:p>
        </p:txBody>
      </p:sp>
      <p:sp>
        <p:nvSpPr>
          <p:cNvPr id="5" name="Text 3"/>
          <p:cNvSpPr/>
          <p:nvPr/>
        </p:nvSpPr>
        <p:spPr>
          <a:xfrm>
            <a:off x="4754880" y="594360"/>
            <a:ext cx="4023360" cy="228600"/>
          </a:xfrm>
          <a:prstGeom prst="rect">
            <a:avLst/>
          </a:prstGeom>
          <a:noFill/>
          <a:ln/>
        </p:spPr>
        <p:txBody>
          <a:bodyPr wrap="square" lIns="0" tIns="0" rIns="0" bIns="0" rtlCol="0" anchor="ctr"/>
          <a:lstStyle/>
          <a:p>
            <a:pPr marL="0" indent="0" algn="l">
              <a:buNone/>
            </a:pPr>
            <a:r>
              <a:rPr lang="en-US" sz="900" b="1" kern="0" spc="200" dirty="0">
                <a:solidFill>
                  <a:srgbClr val="BF2C1F"/>
                </a:solidFill>
                <a:latin typeface="Calibri" pitchFamily="34" charset="0"/>
                <a:ea typeface="Calibri" pitchFamily="34" charset="-122"/>
                <a:cs typeface="Calibri" pitchFamily="34" charset="-120"/>
              </a:rPr>
              <a:t>WHAT'S AT STAKE</a:t>
            </a:r>
            <a:endParaRPr lang="en-US" sz="900" dirty="0"/>
          </a:p>
        </p:txBody>
      </p:sp>
      <p:sp>
        <p:nvSpPr>
          <p:cNvPr id="6" name="Text 4"/>
          <p:cNvSpPr/>
          <p:nvPr/>
        </p:nvSpPr>
        <p:spPr>
          <a:xfrm>
            <a:off x="4754880" y="850392"/>
            <a:ext cx="4023360" cy="2148840"/>
          </a:xfrm>
          <a:prstGeom prst="rect">
            <a:avLst/>
          </a:prstGeom>
          <a:noFill/>
          <a:ln/>
        </p:spPr>
        <p:txBody>
          <a:bodyPr wrap="square" lIns="0" tIns="0" rIns="0" bIns="0" rtlCol="0" anchor="t"/>
          <a:lstStyle/>
          <a:p>
            <a:pPr marL="0" indent="0" algn="l">
              <a:lnSpc>
                <a:spcPct val="125000"/>
              </a:lnSpc>
              <a:buNone/>
            </a:pPr>
            <a:r>
              <a:rPr lang="en-US" sz="1200" dirty="0">
                <a:solidFill>
                  <a:srgbClr val="292929"/>
                </a:solidFill>
                <a:latin typeface="Calibri" pitchFamily="34" charset="0"/>
                <a:ea typeface="Calibri" pitchFamily="34" charset="-122"/>
                <a:cs typeface="Calibri" pitchFamily="34" charset="-120"/>
              </a:rPr>
              <a:t>This is the largest contract Greenfield has ever pursued. Winning it would sustain 85 jobs over three years, 15 apprenticeships, and mark real progress in the public sector strategy the Board has been building.</a:t>
            </a:r>
            <a:endParaRPr lang="en-US" sz="1200" dirty="0"/>
          </a:p>
          <a:p>
            <a:pPr marL="0" indent="0" algn="l">
              <a:lnSpc>
                <a:spcPct val="125000"/>
              </a:lnSpc>
              <a:buNone/>
            </a:pPr>
            <a:endParaRPr lang="en-US" sz="1200" dirty="0"/>
          </a:p>
          <a:p>
            <a:pPr marL="0" indent="0" algn="l">
              <a:lnSpc>
                <a:spcPct val="125000"/>
              </a:lnSpc>
              <a:buNone/>
            </a:pPr>
            <a:r>
              <a:rPr lang="en-US" sz="1200" dirty="0">
                <a:solidFill>
                  <a:srgbClr val="292929"/>
                </a:solidFill>
                <a:latin typeface="Calibri" pitchFamily="34" charset="0"/>
                <a:ea typeface="Calibri" pitchFamily="34" charset="-122"/>
                <a:cs typeface="Calibri" pitchFamily="34" charset="-120"/>
              </a:rPr>
              <a:t>Greenfield also invested £2.4m in new equipment on the expectation of contracts like this one.</a:t>
            </a:r>
            <a:endParaRPr lang="en-US" sz="1200" dirty="0"/>
          </a:p>
        </p:txBody>
      </p:sp>
      <p:sp>
        <p:nvSpPr>
          <p:cNvPr id="7" name="Text 5"/>
          <p:cNvSpPr/>
          <p:nvPr/>
        </p:nvSpPr>
        <p:spPr>
          <a:xfrm>
            <a:off x="4754880" y="3154680"/>
            <a:ext cx="4023360" cy="1645920"/>
          </a:xfrm>
          <a:prstGeom prst="rect">
            <a:avLst/>
          </a:prstGeom>
          <a:noFill/>
          <a:ln/>
        </p:spPr>
        <p:txBody>
          <a:bodyPr wrap="square" lIns="0" tIns="0" rIns="0" bIns="0" rtlCol="0" anchor="t"/>
          <a:lstStyle/>
          <a:p>
            <a:pPr marL="0" indent="0" algn="l">
              <a:lnSpc>
                <a:spcPct val="125000"/>
              </a:lnSpc>
              <a:buNone/>
            </a:pPr>
            <a:r>
              <a:rPr lang="en-US" sz="1150" dirty="0">
                <a:solidFill>
                  <a:srgbClr val="6B7280"/>
                </a:solidFill>
                <a:latin typeface="Calibri" pitchFamily="34" charset="0"/>
                <a:ea typeface="Calibri" pitchFamily="34" charset="-122"/>
                <a:cs typeface="Calibri" pitchFamily="34" charset="-120"/>
              </a:rPr>
              <a:t>On the other side of this bid is a deprived community with real health inequalities and a housing shortage. They depend on this process being run fairly.</a:t>
            </a:r>
            <a:endParaRPr lang="en-US" sz="11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228600" y="91440"/>
            <a:ext cx="8549640" cy="411480"/>
          </a:xfrm>
          <a:prstGeom prst="rect">
            <a:avLst/>
          </a:prstGeom>
          <a:noFill/>
          <a:ln/>
        </p:spPr>
        <p:txBody>
          <a:bodyPr wrap="square" lIns="0" tIns="0" rIns="0" bIns="0" rtlCol="0" anchor="ctr"/>
          <a:lstStyle/>
          <a:p>
            <a:pPr marL="0" indent="0" algn="l">
              <a:buNone/>
            </a:pPr>
            <a:r>
              <a:rPr lang="en-US" sz="2000" b="1" dirty="0">
                <a:solidFill>
                  <a:srgbClr val="151515"/>
                </a:solidFill>
                <a:latin typeface="Calibri" pitchFamily="34" charset="0"/>
                <a:ea typeface="Calibri" pitchFamily="34" charset="-122"/>
                <a:cs typeface="Calibri" pitchFamily="34" charset="-120"/>
              </a:rPr>
              <a:t>The legal picture</a:t>
            </a:r>
            <a:endParaRPr lang="en-US" sz="2000" dirty="0"/>
          </a:p>
        </p:txBody>
      </p:sp>
      <p:sp>
        <p:nvSpPr>
          <p:cNvPr id="3" name="Text 1"/>
          <p:cNvSpPr/>
          <p:nvPr/>
        </p:nvSpPr>
        <p:spPr>
          <a:xfrm>
            <a:off x="457200" y="594360"/>
            <a:ext cx="3840480" cy="228600"/>
          </a:xfrm>
          <a:prstGeom prst="rect">
            <a:avLst/>
          </a:prstGeom>
          <a:noFill/>
          <a:ln/>
        </p:spPr>
        <p:txBody>
          <a:bodyPr wrap="square" lIns="0" tIns="0" rIns="0" bIns="0" rtlCol="0" anchor="ctr"/>
          <a:lstStyle/>
          <a:p>
            <a:pPr marL="0" indent="0" algn="l">
              <a:buNone/>
            </a:pPr>
            <a:r>
              <a:rPr lang="en-US" sz="900" b="1" kern="0" spc="200" dirty="0">
                <a:solidFill>
                  <a:srgbClr val="BF2C1F"/>
                </a:solidFill>
                <a:latin typeface="Calibri" pitchFamily="34" charset="0"/>
                <a:ea typeface="Calibri" pitchFamily="34" charset="-122"/>
                <a:cs typeface="Calibri" pitchFamily="34" charset="-120"/>
              </a:rPr>
              <a:t>BRIBERY ACT 2010</a:t>
            </a:r>
            <a:endParaRPr lang="en-US" sz="900" dirty="0"/>
          </a:p>
        </p:txBody>
      </p:sp>
      <p:sp>
        <p:nvSpPr>
          <p:cNvPr id="4" name="Text 2"/>
          <p:cNvSpPr/>
          <p:nvPr/>
        </p:nvSpPr>
        <p:spPr>
          <a:xfrm>
            <a:off x="457200" y="850392"/>
            <a:ext cx="3840480" cy="3337560"/>
          </a:xfrm>
          <a:prstGeom prst="rect">
            <a:avLst/>
          </a:prstGeom>
          <a:noFill/>
          <a:ln/>
        </p:spPr>
        <p:txBody>
          <a:bodyPr wrap="square" lIns="0" tIns="0" rIns="0" bIns="0" rtlCol="0" anchor="t"/>
          <a:lstStyle/>
          <a:p>
            <a:pPr marL="0" indent="0" algn="l">
              <a:lnSpc>
                <a:spcPct val="115000"/>
              </a:lnSpc>
              <a:buNone/>
            </a:pPr>
            <a:r>
              <a:rPr lang="en-US" sz="1100" dirty="0">
                <a:solidFill>
                  <a:srgbClr val="292929"/>
                </a:solidFill>
                <a:latin typeface="Calibri" pitchFamily="34" charset="0"/>
                <a:ea typeface="Calibri" pitchFamily="34" charset="-122"/>
                <a:cs typeface="Calibri" pitchFamily="34" charset="-120"/>
              </a:rPr>
              <a:t>Section 1: offering an advantage to induce improper conduct is a criminal offence. Offering employment to Richard's son in exchange for tender information qualifies.</a:t>
            </a:r>
            <a:endParaRPr lang="en-US" sz="1100" dirty="0"/>
          </a:p>
          <a:p>
            <a:pPr marL="0" indent="0" algn="l">
              <a:lnSpc>
                <a:spcPct val="115000"/>
              </a:lnSpc>
              <a:buNone/>
            </a:pPr>
            <a:endParaRPr lang="en-US" sz="1100" dirty="0"/>
          </a:p>
          <a:p>
            <a:pPr marL="0" indent="0" algn="l">
              <a:lnSpc>
                <a:spcPct val="115000"/>
              </a:lnSpc>
              <a:buNone/>
            </a:pPr>
            <a:r>
              <a:rPr lang="en-US" sz="1100" dirty="0">
                <a:solidFill>
                  <a:srgbClr val="292929"/>
                </a:solidFill>
                <a:latin typeface="Calibri" pitchFamily="34" charset="0"/>
                <a:ea typeface="Calibri" pitchFamily="34" charset="-122"/>
                <a:cs typeface="Calibri" pitchFamily="34" charset="-120"/>
              </a:rPr>
              <a:t>Section 2: accepting such an advantage is also an offence. Receiving insider data, even without acting on it, could be enough.</a:t>
            </a:r>
            <a:endParaRPr lang="en-US" sz="1100" dirty="0"/>
          </a:p>
          <a:p>
            <a:pPr marL="0" indent="0" algn="l">
              <a:lnSpc>
                <a:spcPct val="115000"/>
              </a:lnSpc>
              <a:buNone/>
            </a:pPr>
            <a:endParaRPr lang="en-US" sz="1100" dirty="0"/>
          </a:p>
          <a:p>
            <a:pPr marL="0" indent="0" algn="l">
              <a:lnSpc>
                <a:spcPct val="115000"/>
              </a:lnSpc>
              <a:buNone/>
            </a:pPr>
            <a:r>
              <a:rPr lang="en-US" sz="1100" dirty="0">
                <a:solidFill>
                  <a:srgbClr val="292929"/>
                </a:solidFill>
                <a:latin typeface="Calibri" pitchFamily="34" charset="0"/>
                <a:ea typeface="Calibri" pitchFamily="34" charset="-122"/>
                <a:cs typeface="Calibri" pitchFamily="34" charset="-120"/>
              </a:rPr>
              <a:t>Section 7 is a corporate offence: failing to prevent bribery. That exposure exists regardless of who in the company made the call.</a:t>
            </a:r>
            <a:endParaRPr lang="en-US" sz="1100" dirty="0"/>
          </a:p>
          <a:p>
            <a:pPr marL="0" indent="0" algn="l">
              <a:lnSpc>
                <a:spcPct val="115000"/>
              </a:lnSpc>
              <a:buNone/>
            </a:pPr>
            <a:endParaRPr lang="en-US" sz="1100" dirty="0"/>
          </a:p>
          <a:p>
            <a:pPr marL="0" indent="0" algn="l">
              <a:lnSpc>
                <a:spcPct val="115000"/>
              </a:lnSpc>
              <a:buNone/>
            </a:pPr>
            <a:r>
              <a:rPr lang="en-US" sz="1100" dirty="0">
                <a:solidFill>
                  <a:srgbClr val="292929"/>
                </a:solidFill>
                <a:latin typeface="Calibri" pitchFamily="34" charset="0"/>
                <a:ea typeface="Calibri" pitchFamily="34" charset="-122"/>
                <a:cs typeface="Calibri" pitchFamily="34" charset="-120"/>
              </a:rPr>
              <a:t>Strict liability. Maximum sentence: 10 years. (HM Government, 2010)</a:t>
            </a:r>
            <a:endParaRPr lang="en-US" sz="1100" dirty="0"/>
          </a:p>
        </p:txBody>
      </p:sp>
      <p:sp>
        <p:nvSpPr>
          <p:cNvPr id="5" name="Text 3"/>
          <p:cNvSpPr/>
          <p:nvPr/>
        </p:nvSpPr>
        <p:spPr>
          <a:xfrm>
            <a:off x="4754880" y="594360"/>
            <a:ext cx="4023360" cy="228600"/>
          </a:xfrm>
          <a:prstGeom prst="rect">
            <a:avLst/>
          </a:prstGeom>
          <a:noFill/>
          <a:ln/>
        </p:spPr>
        <p:txBody>
          <a:bodyPr wrap="square" lIns="0" tIns="0" rIns="0" bIns="0" rtlCol="0" anchor="ctr"/>
          <a:lstStyle/>
          <a:p>
            <a:pPr marL="0" indent="0" algn="l">
              <a:buNone/>
            </a:pPr>
            <a:r>
              <a:rPr lang="en-US" sz="900" b="1" kern="0" spc="200" dirty="0">
                <a:solidFill>
                  <a:srgbClr val="BF2C1F"/>
                </a:solidFill>
                <a:latin typeface="Calibri" pitchFamily="34" charset="0"/>
                <a:ea typeface="Calibri" pitchFamily="34" charset="-122"/>
                <a:cs typeface="Calibri" pitchFamily="34" charset="-120"/>
              </a:rPr>
              <a:t>PROCUREMENT ACT 2023</a:t>
            </a:r>
            <a:endParaRPr lang="en-US" sz="900" dirty="0"/>
          </a:p>
        </p:txBody>
      </p:sp>
      <p:sp>
        <p:nvSpPr>
          <p:cNvPr id="6" name="Text 4"/>
          <p:cNvSpPr/>
          <p:nvPr/>
        </p:nvSpPr>
        <p:spPr>
          <a:xfrm>
            <a:off x="4754880" y="850392"/>
            <a:ext cx="4023360" cy="3337560"/>
          </a:xfrm>
          <a:prstGeom prst="rect">
            <a:avLst/>
          </a:prstGeom>
          <a:noFill/>
          <a:ln/>
        </p:spPr>
        <p:txBody>
          <a:bodyPr wrap="square" lIns="0" tIns="0" rIns="0" bIns="0" rtlCol="0" anchor="t"/>
          <a:lstStyle/>
          <a:p>
            <a:pPr marL="0" indent="0" algn="l">
              <a:lnSpc>
                <a:spcPct val="115000"/>
              </a:lnSpc>
              <a:buNone/>
            </a:pPr>
            <a:r>
              <a:rPr lang="en-US" sz="1100" dirty="0">
                <a:solidFill>
                  <a:srgbClr val="292929"/>
                </a:solidFill>
                <a:latin typeface="Calibri" pitchFamily="34" charset="0"/>
                <a:ea typeface="Calibri" pitchFamily="34" charset="-122"/>
                <a:cs typeface="Calibri" pitchFamily="34" charset="-120"/>
              </a:rPr>
              <a:t>Public contracts require fair, open, transparent competition. Council evaluators sharing confidential information with a bidder is prohibited outright. Accepting it makes Greenfield complicit in that breach.</a:t>
            </a:r>
            <a:endParaRPr lang="en-US" sz="1100" dirty="0"/>
          </a:p>
          <a:p>
            <a:pPr marL="0" indent="0" algn="l">
              <a:lnSpc>
                <a:spcPct val="115000"/>
              </a:lnSpc>
              <a:buNone/>
            </a:pPr>
            <a:endParaRPr lang="en-US" sz="1100" dirty="0"/>
          </a:p>
          <a:p>
            <a:pPr marL="0" indent="0" algn="l">
              <a:lnSpc>
                <a:spcPct val="115000"/>
              </a:lnSpc>
              <a:buNone/>
            </a:pPr>
            <a:r>
              <a:rPr lang="en-US" sz="1100" dirty="0">
                <a:solidFill>
                  <a:srgbClr val="292929"/>
                </a:solidFill>
                <a:latin typeface="Calibri" pitchFamily="34" charset="0"/>
                <a:ea typeface="Calibri" pitchFamily="34" charset="-122"/>
                <a:cs typeface="Calibri" pitchFamily="34" charset="-120"/>
              </a:rPr>
              <a:t>If this surfaces after award: the contract gets voided and Greenfield gets debarred from public procurement. Every future tender, gone.</a:t>
            </a:r>
            <a:endParaRPr lang="en-US" sz="1100" dirty="0"/>
          </a:p>
          <a:p>
            <a:pPr marL="0" indent="0" algn="l">
              <a:lnSpc>
                <a:spcPct val="115000"/>
              </a:lnSpc>
              <a:buNone/>
            </a:pPr>
            <a:endParaRPr lang="en-US" sz="1100" dirty="0"/>
          </a:p>
          <a:p>
            <a:pPr marL="0" indent="0" algn="l">
              <a:lnSpc>
                <a:spcPct val="115000"/>
              </a:lnSpc>
              <a:buNone/>
            </a:pPr>
            <a:r>
              <a:rPr lang="en-US" sz="1100" dirty="0">
                <a:solidFill>
                  <a:srgbClr val="292929"/>
                </a:solidFill>
                <a:latin typeface="Calibri" pitchFamily="34" charset="0"/>
                <a:ea typeface="Calibri" pitchFamily="34" charset="-122"/>
                <a:cs typeface="Calibri" pitchFamily="34" charset="-120"/>
              </a:rPr>
              <a:t>Richard's disclosure is already unlawful. What Greenfield does next determines whether it becomes Greenfield's problem too. (HM Government, 2023)</a:t>
            </a:r>
            <a:endParaRPr lang="en-US" sz="1100" dirty="0"/>
          </a:p>
        </p:txBody>
      </p:sp>
      <p:sp>
        <p:nvSpPr>
          <p:cNvPr id="7" name="Text 5"/>
          <p:cNvSpPr/>
          <p:nvPr/>
        </p:nvSpPr>
        <p:spPr>
          <a:xfrm>
            <a:off x="457200" y="4343400"/>
            <a:ext cx="8321040" cy="548640"/>
          </a:xfrm>
          <a:prstGeom prst="rect">
            <a:avLst/>
          </a:prstGeom>
          <a:noFill/>
          <a:ln/>
        </p:spPr>
        <p:txBody>
          <a:bodyPr wrap="square" lIns="0" tIns="0" rIns="0" bIns="0" rtlCol="0" anchor="ctr"/>
          <a:lstStyle/>
          <a:p>
            <a:pPr marL="0" indent="0" algn="l">
              <a:buNone/>
            </a:pPr>
            <a:r>
              <a:rPr lang="en-US" sz="1300" i="1" dirty="0">
                <a:solidFill>
                  <a:srgbClr val="BF2C1F"/>
                </a:solidFill>
                <a:latin typeface="Calibri" pitchFamily="34" charset="0"/>
                <a:ea typeface="Calibri" pitchFamily="34" charset="-122"/>
                <a:cs typeface="Calibri" pitchFamily="34" charset="-120"/>
              </a:rPr>
              <a:t>Greenfield doesn't need to use the information for liability to arise. Receiving it without reporting could be enough.</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228600" y="91440"/>
            <a:ext cx="8549640" cy="411480"/>
          </a:xfrm>
          <a:prstGeom prst="rect">
            <a:avLst/>
          </a:prstGeom>
          <a:noFill/>
          <a:ln/>
        </p:spPr>
        <p:txBody>
          <a:bodyPr wrap="square" lIns="0" tIns="0" rIns="0" bIns="0" rtlCol="0" anchor="ctr"/>
          <a:lstStyle/>
          <a:p>
            <a:pPr marL="0" indent="0" algn="l">
              <a:buNone/>
            </a:pPr>
            <a:r>
              <a:rPr lang="en-US" sz="2000" b="1" dirty="0">
                <a:solidFill>
                  <a:srgbClr val="151515"/>
                </a:solidFill>
                <a:latin typeface="Calibri" pitchFamily="34" charset="0"/>
                <a:ea typeface="Calibri" pitchFamily="34" charset="-122"/>
                <a:cs typeface="Calibri" pitchFamily="34" charset="-120"/>
              </a:rPr>
              <a:t>Three options</a:t>
            </a:r>
            <a:endParaRPr lang="en-US" sz="2000" dirty="0"/>
          </a:p>
        </p:txBody>
      </p:sp>
      <p:sp>
        <p:nvSpPr>
          <p:cNvPr id="3" name="Shape 1"/>
          <p:cNvSpPr/>
          <p:nvPr/>
        </p:nvSpPr>
        <p:spPr>
          <a:xfrm>
            <a:off x="246888" y="594360"/>
            <a:ext cx="2743200" cy="402336"/>
          </a:xfrm>
          <a:prstGeom prst="rect">
            <a:avLst/>
          </a:prstGeom>
          <a:solidFill>
            <a:srgbClr val="BF2C1F"/>
          </a:solidFill>
          <a:ln w="12700">
            <a:solidFill>
              <a:srgbClr val="BF2C1F"/>
            </a:solidFill>
            <a:prstDash val="solid"/>
          </a:ln>
        </p:spPr>
        <p:txBody>
          <a:bodyPr/>
          <a:lstStyle/>
          <a:p>
            <a:endParaRPr lang="en-GB"/>
          </a:p>
        </p:txBody>
      </p:sp>
      <p:sp>
        <p:nvSpPr>
          <p:cNvPr id="4" name="Text 2"/>
          <p:cNvSpPr/>
          <p:nvPr/>
        </p:nvSpPr>
        <p:spPr>
          <a:xfrm>
            <a:off x="356616" y="594360"/>
            <a:ext cx="2606040" cy="402336"/>
          </a:xfrm>
          <a:prstGeom prst="rect">
            <a:avLst/>
          </a:prstGeom>
          <a:noFill/>
          <a:ln/>
        </p:spPr>
        <p:txBody>
          <a:bodyPr wrap="square" lIns="0" tIns="0" rIns="0" bIns="0" rtlCol="0" anchor="ctr"/>
          <a:lstStyle/>
          <a:p>
            <a:pPr marL="0" indent="0" algn="l">
              <a:buNone/>
            </a:pPr>
            <a:r>
              <a:rPr lang="en-US" sz="1100" b="1" dirty="0">
                <a:solidFill>
                  <a:srgbClr val="FFFFFF"/>
                </a:solidFill>
                <a:latin typeface="Calibri" pitchFamily="34" charset="0"/>
                <a:ea typeface="Calibri" pitchFamily="34" charset="-122"/>
                <a:cs typeface="Calibri" pitchFamily="34" charset="-120"/>
              </a:rPr>
              <a:t>Option A — Accept</a:t>
            </a:r>
            <a:endParaRPr lang="en-US" sz="1100" dirty="0"/>
          </a:p>
        </p:txBody>
      </p:sp>
      <p:sp>
        <p:nvSpPr>
          <p:cNvPr id="5" name="Text 3"/>
          <p:cNvSpPr/>
          <p:nvPr/>
        </p:nvSpPr>
        <p:spPr>
          <a:xfrm>
            <a:off x="356616" y="1069848"/>
            <a:ext cx="2560320" cy="4114800"/>
          </a:xfrm>
          <a:prstGeom prst="rect">
            <a:avLst/>
          </a:prstGeom>
          <a:noFill/>
          <a:ln/>
        </p:spPr>
        <p:txBody>
          <a:bodyPr wrap="square" lIns="0" tIns="0" rIns="0" bIns="0" rtlCol="0" anchor="t"/>
          <a:lstStyle/>
          <a:p>
            <a:pPr marL="0" indent="0" algn="l">
              <a:lnSpc>
                <a:spcPct val="128000"/>
              </a:lnSpc>
              <a:buNone/>
            </a:pPr>
            <a:r>
              <a:rPr lang="en-US" sz="1100" dirty="0">
                <a:solidFill>
                  <a:srgbClr val="2A7A2A"/>
                </a:solidFill>
                <a:latin typeface="Calibri" pitchFamily="34" charset="0"/>
                <a:ea typeface="Calibri" pitchFamily="34" charset="-122"/>
                <a:cs typeface="Calibri" pitchFamily="34" charset="-120"/>
              </a:rPr>
              <a:t>Could win the £18.5m contract</a:t>
            </a:r>
            <a:endParaRPr lang="en-US" sz="1100" dirty="0"/>
          </a:p>
          <a:p>
            <a:pPr marL="0" indent="0" algn="l">
              <a:lnSpc>
                <a:spcPct val="128000"/>
              </a:lnSpc>
              <a:buNone/>
            </a:pPr>
            <a:r>
              <a:rPr lang="en-US" sz="1100" dirty="0">
                <a:solidFill>
                  <a:srgbClr val="2A7A2A"/>
                </a:solidFill>
                <a:latin typeface="Calibri" pitchFamily="34" charset="0"/>
                <a:ea typeface="Calibri" pitchFamily="34" charset="-122"/>
                <a:cs typeface="Calibri" pitchFamily="34" charset="-120"/>
              </a:rPr>
              <a:t>Sustains 85 jobs in the short term</a:t>
            </a:r>
            <a:endParaRPr lang="en-US" sz="1100" dirty="0"/>
          </a:p>
          <a:p>
            <a:pPr marL="0" indent="0" algn="l">
              <a:lnSpc>
                <a:spcPct val="128000"/>
              </a:lnSpc>
              <a:buNone/>
            </a:pPr>
            <a:r>
              <a:rPr lang="en-US" sz="500" dirty="0">
                <a:solidFill>
                  <a:srgbClr val="000000"/>
                </a:solidFill>
                <a:latin typeface="Calibri" pitchFamily="34" charset="0"/>
                <a:ea typeface="Calibri" pitchFamily="34" charset="-122"/>
                <a:cs typeface="Calibri" pitchFamily="34" charset="-120"/>
              </a:rPr>
              <a:t> </a:t>
            </a:r>
            <a:endParaRPr lang="en-US" sz="1100" dirty="0"/>
          </a:p>
          <a:p>
            <a:pPr marL="0" indent="0" algn="l">
              <a:lnSpc>
                <a:spcPct val="128000"/>
              </a:lnSpc>
              <a:buNone/>
            </a:pPr>
            <a:r>
              <a:rPr lang="en-US" sz="1100" dirty="0">
                <a:solidFill>
                  <a:srgbClr val="A01818"/>
                </a:solidFill>
                <a:latin typeface="Calibri" pitchFamily="34" charset="0"/>
                <a:ea typeface="Calibri" pitchFamily="34" charset="-122"/>
                <a:cs typeface="Calibri" pitchFamily="34" charset="-120"/>
              </a:rPr>
              <a:t>Criminal offence: Bribery Act ss.1, 2 and 7</a:t>
            </a:r>
            <a:endParaRPr lang="en-US" sz="1100" dirty="0"/>
          </a:p>
          <a:p>
            <a:pPr marL="0" indent="0" algn="l">
              <a:lnSpc>
                <a:spcPct val="128000"/>
              </a:lnSpc>
              <a:buNone/>
            </a:pPr>
            <a:r>
              <a:rPr lang="en-US" sz="1100" dirty="0">
                <a:solidFill>
                  <a:srgbClr val="A01818"/>
                </a:solidFill>
                <a:latin typeface="Calibri" pitchFamily="34" charset="0"/>
                <a:ea typeface="Calibri" pitchFamily="34" charset="-122"/>
                <a:cs typeface="Calibri" pitchFamily="34" charset="-120"/>
              </a:rPr>
              <a:t>Contract voided and debarred from public procurement if discovered</a:t>
            </a:r>
            <a:endParaRPr lang="en-US" sz="1100" dirty="0"/>
          </a:p>
          <a:p>
            <a:pPr marL="0" indent="0" algn="l">
              <a:lnSpc>
                <a:spcPct val="128000"/>
              </a:lnSpc>
              <a:buNone/>
            </a:pPr>
            <a:r>
              <a:rPr lang="en-US" sz="1100" dirty="0">
                <a:solidFill>
                  <a:srgbClr val="A01818"/>
                </a:solidFill>
                <a:latin typeface="Calibri" pitchFamily="34" charset="0"/>
                <a:ea typeface="Calibri" pitchFamily="34" charset="-122"/>
                <a:cs typeface="Calibri" pitchFamily="34" charset="-120"/>
              </a:rPr>
              <a:t>Reputational damage that can't be undone</a:t>
            </a:r>
            <a:endParaRPr lang="en-US" sz="1100" dirty="0"/>
          </a:p>
          <a:p>
            <a:pPr marL="0" indent="0" algn="l">
              <a:lnSpc>
                <a:spcPct val="128000"/>
              </a:lnSpc>
              <a:buNone/>
            </a:pPr>
            <a:r>
              <a:rPr lang="en-US" sz="1100" dirty="0">
                <a:solidFill>
                  <a:srgbClr val="A01818"/>
                </a:solidFill>
                <a:latin typeface="Calibri" pitchFamily="34" charset="0"/>
                <a:ea typeface="Calibri" pitchFamily="34" charset="-122"/>
                <a:cs typeface="Calibri" pitchFamily="34" charset="-120"/>
              </a:rPr>
              <a:t>The exposure exists even if you never use the information</a:t>
            </a:r>
            <a:endParaRPr lang="en-US" sz="1100" dirty="0"/>
          </a:p>
        </p:txBody>
      </p:sp>
      <p:sp>
        <p:nvSpPr>
          <p:cNvPr id="6" name="Shape 4"/>
          <p:cNvSpPr/>
          <p:nvPr/>
        </p:nvSpPr>
        <p:spPr>
          <a:xfrm>
            <a:off x="3054096" y="594360"/>
            <a:ext cx="2743200" cy="402336"/>
          </a:xfrm>
          <a:prstGeom prst="rect">
            <a:avLst/>
          </a:prstGeom>
          <a:solidFill>
            <a:srgbClr val="5C6470"/>
          </a:solidFill>
          <a:ln w="12700">
            <a:solidFill>
              <a:srgbClr val="5C6470"/>
            </a:solidFill>
            <a:prstDash val="solid"/>
          </a:ln>
        </p:spPr>
        <p:txBody>
          <a:bodyPr/>
          <a:lstStyle/>
          <a:p>
            <a:endParaRPr lang="en-GB"/>
          </a:p>
        </p:txBody>
      </p:sp>
      <p:sp>
        <p:nvSpPr>
          <p:cNvPr id="7" name="Text 5"/>
          <p:cNvSpPr/>
          <p:nvPr/>
        </p:nvSpPr>
        <p:spPr>
          <a:xfrm>
            <a:off x="3163824" y="594360"/>
            <a:ext cx="2606040" cy="402336"/>
          </a:xfrm>
          <a:prstGeom prst="rect">
            <a:avLst/>
          </a:prstGeom>
          <a:noFill/>
          <a:ln/>
        </p:spPr>
        <p:txBody>
          <a:bodyPr wrap="square" lIns="0" tIns="0" rIns="0" bIns="0" rtlCol="0" anchor="ctr"/>
          <a:lstStyle/>
          <a:p>
            <a:pPr marL="0" indent="0" algn="l">
              <a:buNone/>
            </a:pPr>
            <a:r>
              <a:rPr lang="en-US" sz="1100" b="1" dirty="0">
                <a:solidFill>
                  <a:srgbClr val="FFFFFF"/>
                </a:solidFill>
                <a:latin typeface="Calibri" pitchFamily="34" charset="0"/>
                <a:ea typeface="Calibri" pitchFamily="34" charset="-122"/>
                <a:cs typeface="Calibri" pitchFamily="34" charset="-120"/>
              </a:rPr>
              <a:t>Option B — Stay quiet</a:t>
            </a:r>
            <a:endParaRPr lang="en-US" sz="1100" dirty="0"/>
          </a:p>
        </p:txBody>
      </p:sp>
      <p:sp>
        <p:nvSpPr>
          <p:cNvPr id="8" name="Text 6"/>
          <p:cNvSpPr/>
          <p:nvPr/>
        </p:nvSpPr>
        <p:spPr>
          <a:xfrm>
            <a:off x="3163824" y="1069848"/>
            <a:ext cx="2560320" cy="4114800"/>
          </a:xfrm>
          <a:prstGeom prst="rect">
            <a:avLst/>
          </a:prstGeom>
          <a:noFill/>
          <a:ln/>
        </p:spPr>
        <p:txBody>
          <a:bodyPr wrap="square" lIns="0" tIns="0" rIns="0" bIns="0" rtlCol="0" anchor="t"/>
          <a:lstStyle/>
          <a:p>
            <a:pPr marL="0" indent="0" algn="l">
              <a:lnSpc>
                <a:spcPct val="128000"/>
              </a:lnSpc>
              <a:buNone/>
            </a:pPr>
            <a:r>
              <a:rPr lang="en-US" sz="1100" dirty="0">
                <a:solidFill>
                  <a:srgbClr val="2A7A2A"/>
                </a:solidFill>
                <a:latin typeface="Calibri" pitchFamily="34" charset="0"/>
                <a:ea typeface="Calibri" pitchFamily="34" charset="-122"/>
                <a:cs typeface="Calibri" pitchFamily="34" charset="-120"/>
              </a:rPr>
              <a:t>No direct criminal exposure</a:t>
            </a:r>
            <a:endParaRPr lang="en-US" sz="1100" dirty="0"/>
          </a:p>
          <a:p>
            <a:pPr marL="0" indent="0" algn="l">
              <a:lnSpc>
                <a:spcPct val="128000"/>
              </a:lnSpc>
              <a:buNone/>
            </a:pPr>
            <a:r>
              <a:rPr lang="en-US" sz="1100" dirty="0">
                <a:solidFill>
                  <a:srgbClr val="2A7A2A"/>
                </a:solidFill>
                <a:latin typeface="Calibri" pitchFamily="34" charset="0"/>
                <a:ea typeface="Calibri" pitchFamily="34" charset="-122"/>
                <a:cs typeface="Calibri" pitchFamily="34" charset="-120"/>
              </a:rPr>
              <a:t>Friendship with Richard preserved</a:t>
            </a:r>
            <a:endParaRPr lang="en-US" sz="1100" dirty="0"/>
          </a:p>
          <a:p>
            <a:pPr marL="0" indent="0" algn="l">
              <a:lnSpc>
                <a:spcPct val="128000"/>
              </a:lnSpc>
              <a:buNone/>
            </a:pPr>
            <a:r>
              <a:rPr lang="en-US" sz="500" dirty="0">
                <a:solidFill>
                  <a:srgbClr val="000000"/>
                </a:solidFill>
                <a:latin typeface="Calibri" pitchFamily="34" charset="0"/>
                <a:ea typeface="Calibri" pitchFamily="34" charset="-122"/>
                <a:cs typeface="Calibri" pitchFamily="34" charset="-120"/>
              </a:rPr>
              <a:t> </a:t>
            </a:r>
            <a:endParaRPr lang="en-US" sz="1100" dirty="0"/>
          </a:p>
          <a:p>
            <a:pPr marL="0" indent="0" algn="l">
              <a:lnSpc>
                <a:spcPct val="128000"/>
              </a:lnSpc>
              <a:buNone/>
            </a:pPr>
            <a:r>
              <a:rPr lang="en-US" sz="1100" dirty="0">
                <a:solidFill>
                  <a:srgbClr val="A01818"/>
                </a:solidFill>
                <a:latin typeface="Calibri" pitchFamily="34" charset="0"/>
                <a:ea typeface="Calibri" pitchFamily="34" charset="-122"/>
                <a:cs typeface="Calibri" pitchFamily="34" charset="-120"/>
              </a:rPr>
              <a:t>Leaves a corrupt process running</a:t>
            </a:r>
            <a:endParaRPr lang="en-US" sz="1100" dirty="0"/>
          </a:p>
          <a:p>
            <a:pPr marL="0" indent="0" algn="l">
              <a:lnSpc>
                <a:spcPct val="128000"/>
              </a:lnSpc>
              <a:buNone/>
            </a:pPr>
            <a:r>
              <a:rPr lang="en-US" sz="1100" dirty="0">
                <a:solidFill>
                  <a:srgbClr val="A01818"/>
                </a:solidFill>
                <a:latin typeface="Calibri" pitchFamily="34" charset="0"/>
                <a:ea typeface="Calibri" pitchFamily="34" charset="-122"/>
                <a:cs typeface="Calibri" pitchFamily="34" charset="-120"/>
              </a:rPr>
              <a:t>Silence can look like complicity if this surfaces later</a:t>
            </a:r>
            <a:endParaRPr lang="en-US" sz="1100" dirty="0"/>
          </a:p>
          <a:p>
            <a:pPr marL="0" indent="0" algn="l">
              <a:lnSpc>
                <a:spcPct val="128000"/>
              </a:lnSpc>
              <a:buNone/>
            </a:pPr>
            <a:r>
              <a:rPr lang="en-US" sz="1100" dirty="0">
                <a:solidFill>
                  <a:srgbClr val="A01818"/>
                </a:solidFill>
                <a:latin typeface="Calibri" pitchFamily="34" charset="0"/>
                <a:ea typeface="Calibri" pitchFamily="34" charset="-122"/>
                <a:cs typeface="Calibri" pitchFamily="34" charset="-120"/>
              </a:rPr>
              <a:t>Richard may approach the next bidder</a:t>
            </a:r>
            <a:endParaRPr lang="en-US" sz="1100" dirty="0"/>
          </a:p>
          <a:p>
            <a:pPr marL="0" indent="0" algn="l">
              <a:lnSpc>
                <a:spcPct val="128000"/>
              </a:lnSpc>
              <a:buNone/>
            </a:pPr>
            <a:r>
              <a:rPr lang="en-US" sz="1100" dirty="0">
                <a:solidFill>
                  <a:srgbClr val="A01818"/>
                </a:solidFill>
                <a:latin typeface="Calibri" pitchFamily="34" charset="0"/>
                <a:ea typeface="Calibri" pitchFamily="34" charset="-122"/>
                <a:cs typeface="Calibri" pitchFamily="34" charset="-120"/>
              </a:rPr>
              <a:t>Hard to square with 'building with integrity'</a:t>
            </a:r>
            <a:endParaRPr lang="en-US" sz="1100" dirty="0"/>
          </a:p>
        </p:txBody>
      </p:sp>
      <p:sp>
        <p:nvSpPr>
          <p:cNvPr id="9" name="Shape 7"/>
          <p:cNvSpPr/>
          <p:nvPr/>
        </p:nvSpPr>
        <p:spPr>
          <a:xfrm>
            <a:off x="5861304" y="594360"/>
            <a:ext cx="2743200" cy="402336"/>
          </a:xfrm>
          <a:prstGeom prst="rect">
            <a:avLst/>
          </a:prstGeom>
          <a:solidFill>
            <a:srgbClr val="1A3A28"/>
          </a:solidFill>
          <a:ln w="12700">
            <a:solidFill>
              <a:srgbClr val="1A3A28"/>
            </a:solidFill>
            <a:prstDash val="solid"/>
          </a:ln>
        </p:spPr>
        <p:txBody>
          <a:bodyPr/>
          <a:lstStyle/>
          <a:p>
            <a:endParaRPr lang="en-GB"/>
          </a:p>
        </p:txBody>
      </p:sp>
      <p:sp>
        <p:nvSpPr>
          <p:cNvPr id="10" name="Text 8"/>
          <p:cNvSpPr/>
          <p:nvPr/>
        </p:nvSpPr>
        <p:spPr>
          <a:xfrm>
            <a:off x="5971032" y="594360"/>
            <a:ext cx="2606040" cy="402336"/>
          </a:xfrm>
          <a:prstGeom prst="rect">
            <a:avLst/>
          </a:prstGeom>
          <a:noFill/>
          <a:ln/>
        </p:spPr>
        <p:txBody>
          <a:bodyPr wrap="square" lIns="0" tIns="0" rIns="0" bIns="0" rtlCol="0" anchor="ctr"/>
          <a:lstStyle/>
          <a:p>
            <a:pPr marL="0" indent="0" algn="l">
              <a:buNone/>
            </a:pPr>
            <a:r>
              <a:rPr lang="en-US" sz="1100" b="1" dirty="0">
                <a:solidFill>
                  <a:srgbClr val="FFFFFF"/>
                </a:solidFill>
                <a:latin typeface="Calibri" pitchFamily="34" charset="0"/>
                <a:ea typeface="Calibri" pitchFamily="34" charset="-122"/>
                <a:cs typeface="Calibri" pitchFamily="34" charset="-120"/>
              </a:rPr>
              <a:t>Option C — Decline and report</a:t>
            </a:r>
            <a:endParaRPr lang="en-US" sz="1100" dirty="0"/>
          </a:p>
        </p:txBody>
      </p:sp>
      <p:sp>
        <p:nvSpPr>
          <p:cNvPr id="11" name="Text 9"/>
          <p:cNvSpPr/>
          <p:nvPr/>
        </p:nvSpPr>
        <p:spPr>
          <a:xfrm>
            <a:off x="5971032" y="1069848"/>
            <a:ext cx="2560320" cy="4114800"/>
          </a:xfrm>
          <a:prstGeom prst="rect">
            <a:avLst/>
          </a:prstGeom>
          <a:noFill/>
          <a:ln/>
        </p:spPr>
        <p:txBody>
          <a:bodyPr wrap="square" lIns="0" tIns="0" rIns="0" bIns="0" rtlCol="0" anchor="t"/>
          <a:lstStyle/>
          <a:p>
            <a:pPr marL="0" indent="0" algn="l">
              <a:lnSpc>
                <a:spcPct val="128000"/>
              </a:lnSpc>
              <a:buNone/>
            </a:pPr>
            <a:r>
              <a:rPr lang="en-US" sz="1100" dirty="0">
                <a:solidFill>
                  <a:srgbClr val="2A7A2A"/>
                </a:solidFill>
                <a:latin typeface="Calibri" pitchFamily="34" charset="0"/>
                <a:ea typeface="Calibri" pitchFamily="34" charset="-122"/>
                <a:cs typeface="Calibri" pitchFamily="34" charset="-120"/>
              </a:rPr>
              <a:t>Full legal protection</a:t>
            </a:r>
            <a:endParaRPr lang="en-US" sz="1100" dirty="0"/>
          </a:p>
          <a:p>
            <a:pPr marL="0" indent="0" algn="l">
              <a:lnSpc>
                <a:spcPct val="128000"/>
              </a:lnSpc>
              <a:buNone/>
            </a:pPr>
            <a:r>
              <a:rPr lang="en-US" sz="1100" dirty="0">
                <a:solidFill>
                  <a:srgbClr val="2A7A2A"/>
                </a:solidFill>
                <a:latin typeface="Calibri" pitchFamily="34" charset="0"/>
                <a:ea typeface="Calibri" pitchFamily="34" charset="-122"/>
                <a:cs typeface="Calibri" pitchFamily="34" charset="-120"/>
              </a:rPr>
              <a:t>Consistent with Greenfield's stated values</a:t>
            </a:r>
            <a:endParaRPr lang="en-US" sz="1100" dirty="0"/>
          </a:p>
          <a:p>
            <a:pPr marL="0" indent="0" algn="l">
              <a:lnSpc>
                <a:spcPct val="128000"/>
              </a:lnSpc>
              <a:buNone/>
            </a:pPr>
            <a:r>
              <a:rPr lang="en-US" sz="1100" dirty="0">
                <a:solidFill>
                  <a:srgbClr val="2A7A2A"/>
                </a:solidFill>
                <a:latin typeface="Calibri" pitchFamily="34" charset="0"/>
                <a:ea typeface="Calibri" pitchFamily="34" charset="-122"/>
                <a:cs typeface="Calibri" pitchFamily="34" charset="-120"/>
              </a:rPr>
              <a:t>Public sector pipeline stays intact</a:t>
            </a:r>
            <a:endParaRPr lang="en-US" sz="1100" dirty="0"/>
          </a:p>
          <a:p>
            <a:pPr marL="0" indent="0" algn="l">
              <a:lnSpc>
                <a:spcPct val="128000"/>
              </a:lnSpc>
              <a:buNone/>
            </a:pPr>
            <a:r>
              <a:rPr lang="en-US" sz="1100" dirty="0">
                <a:solidFill>
                  <a:srgbClr val="2A7A2A"/>
                </a:solidFill>
                <a:latin typeface="Calibri" pitchFamily="34" charset="0"/>
                <a:ea typeface="Calibri" pitchFamily="34" charset="-122"/>
                <a:cs typeface="Calibri" pitchFamily="34" charset="-120"/>
              </a:rPr>
              <a:t>Right outcome for the community</a:t>
            </a:r>
            <a:endParaRPr lang="en-US" sz="1100" dirty="0"/>
          </a:p>
          <a:p>
            <a:pPr marL="0" indent="0" algn="l">
              <a:lnSpc>
                <a:spcPct val="128000"/>
              </a:lnSpc>
              <a:buNone/>
            </a:pPr>
            <a:r>
              <a:rPr lang="en-US" sz="500" dirty="0">
                <a:solidFill>
                  <a:srgbClr val="000000"/>
                </a:solidFill>
                <a:latin typeface="Calibri" pitchFamily="34" charset="0"/>
                <a:ea typeface="Calibri" pitchFamily="34" charset="-122"/>
                <a:cs typeface="Calibri" pitchFamily="34" charset="-120"/>
              </a:rPr>
              <a:t> </a:t>
            </a:r>
            <a:endParaRPr lang="en-US" sz="1100" dirty="0"/>
          </a:p>
          <a:p>
            <a:pPr marL="0" indent="0" algn="l">
              <a:lnSpc>
                <a:spcPct val="128000"/>
              </a:lnSpc>
              <a:buNone/>
            </a:pPr>
            <a:r>
              <a:rPr lang="en-US" sz="1100" dirty="0">
                <a:solidFill>
                  <a:srgbClr val="A01818"/>
                </a:solidFill>
                <a:latin typeface="Calibri" pitchFamily="34" charset="0"/>
                <a:ea typeface="Calibri" pitchFamily="34" charset="-122"/>
                <a:cs typeface="Calibri" pitchFamily="34" charset="-120"/>
              </a:rPr>
              <a:t>Real chance of losing this contract</a:t>
            </a:r>
            <a:endParaRPr lang="en-US" sz="1100" dirty="0"/>
          </a:p>
          <a:p>
            <a:pPr marL="0" indent="0" algn="l">
              <a:lnSpc>
                <a:spcPct val="128000"/>
              </a:lnSpc>
              <a:buNone/>
            </a:pPr>
            <a:r>
              <a:rPr lang="en-US" sz="1100" dirty="0">
                <a:solidFill>
                  <a:srgbClr val="A01818"/>
                </a:solidFill>
                <a:latin typeface="Calibri" pitchFamily="34" charset="0"/>
                <a:ea typeface="Calibri" pitchFamily="34" charset="-122"/>
                <a:cs typeface="Calibri" pitchFamily="34" charset="-120"/>
              </a:rPr>
              <a:t>Short-term financial pressure</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228600" y="91440"/>
            <a:ext cx="8549640" cy="411480"/>
          </a:xfrm>
          <a:prstGeom prst="rect">
            <a:avLst/>
          </a:prstGeom>
          <a:noFill/>
          <a:ln/>
        </p:spPr>
        <p:txBody>
          <a:bodyPr wrap="square" lIns="0" tIns="0" rIns="0" bIns="0" rtlCol="0" anchor="ctr"/>
          <a:lstStyle/>
          <a:p>
            <a:pPr marL="0" indent="0" algn="l">
              <a:buNone/>
            </a:pPr>
            <a:r>
              <a:rPr lang="en-US" sz="2000" b="1" dirty="0">
                <a:solidFill>
                  <a:srgbClr val="151515"/>
                </a:solidFill>
                <a:latin typeface="Calibri" pitchFamily="34" charset="0"/>
                <a:ea typeface="Calibri" pitchFamily="34" charset="-122"/>
                <a:cs typeface="Calibri" pitchFamily="34" charset="-120"/>
              </a:rPr>
              <a:t>Ethical analysis: utilitarianism</a:t>
            </a:r>
            <a:endParaRPr lang="en-US" sz="2000" dirty="0"/>
          </a:p>
        </p:txBody>
      </p:sp>
      <p:sp>
        <p:nvSpPr>
          <p:cNvPr id="3" name="Text 1"/>
          <p:cNvSpPr/>
          <p:nvPr/>
        </p:nvSpPr>
        <p:spPr>
          <a:xfrm>
            <a:off x="457200" y="594360"/>
            <a:ext cx="3383280" cy="228600"/>
          </a:xfrm>
          <a:prstGeom prst="rect">
            <a:avLst/>
          </a:prstGeom>
          <a:noFill/>
          <a:ln/>
        </p:spPr>
        <p:txBody>
          <a:bodyPr wrap="square" lIns="0" tIns="0" rIns="0" bIns="0" rtlCol="0" anchor="ctr"/>
          <a:lstStyle/>
          <a:p>
            <a:pPr marL="0" indent="0" algn="l">
              <a:buNone/>
            </a:pPr>
            <a:r>
              <a:rPr lang="en-US" sz="900" b="1" kern="0" spc="200" dirty="0">
                <a:solidFill>
                  <a:srgbClr val="BF2C1F"/>
                </a:solidFill>
                <a:latin typeface="Calibri" pitchFamily="34" charset="0"/>
                <a:ea typeface="Calibri" pitchFamily="34" charset="-122"/>
                <a:cs typeface="Calibri" pitchFamily="34" charset="-120"/>
              </a:rPr>
              <a:t>THE FRAMEWORK</a:t>
            </a:r>
            <a:endParaRPr lang="en-US" sz="900" dirty="0"/>
          </a:p>
        </p:txBody>
      </p:sp>
      <p:sp>
        <p:nvSpPr>
          <p:cNvPr id="4" name="Text 2"/>
          <p:cNvSpPr/>
          <p:nvPr/>
        </p:nvSpPr>
        <p:spPr>
          <a:xfrm>
            <a:off x="457200" y="850392"/>
            <a:ext cx="3383280" cy="3886200"/>
          </a:xfrm>
          <a:prstGeom prst="rect">
            <a:avLst/>
          </a:prstGeom>
          <a:noFill/>
          <a:ln/>
        </p:spPr>
        <p:txBody>
          <a:bodyPr wrap="square" lIns="0" tIns="0" rIns="0" bIns="0" rtlCol="0" anchor="t"/>
          <a:lstStyle/>
          <a:p>
            <a:pPr marL="0" indent="0" algn="l">
              <a:lnSpc>
                <a:spcPct val="125000"/>
              </a:lnSpc>
              <a:buNone/>
            </a:pPr>
            <a:r>
              <a:rPr lang="en-US" sz="1200" dirty="0">
                <a:solidFill>
                  <a:srgbClr val="292929"/>
                </a:solidFill>
                <a:latin typeface="Calibri" pitchFamily="34" charset="0"/>
                <a:ea typeface="Calibri" pitchFamily="34" charset="-122"/>
                <a:cs typeface="Calibri" pitchFamily="34" charset="-120"/>
              </a:rPr>
              <a:t>Utilitarianism asks one question: which action produces the best outcome for the most people?</a:t>
            </a:r>
            <a:endParaRPr lang="en-US" sz="1200" dirty="0"/>
          </a:p>
          <a:p>
            <a:pPr marL="0" indent="0" algn="l">
              <a:lnSpc>
                <a:spcPct val="125000"/>
              </a:lnSpc>
              <a:buNone/>
            </a:pPr>
            <a:endParaRPr lang="en-US" sz="1200" dirty="0"/>
          </a:p>
          <a:p>
            <a:pPr marL="0" indent="0" algn="l">
              <a:lnSpc>
                <a:spcPct val="125000"/>
              </a:lnSpc>
              <a:buNone/>
            </a:pPr>
            <a:r>
              <a:rPr lang="en-US" sz="1200" dirty="0">
                <a:solidFill>
                  <a:srgbClr val="292929"/>
                </a:solidFill>
                <a:latin typeface="Calibri" pitchFamily="34" charset="0"/>
                <a:ea typeface="Calibri" pitchFamily="34" charset="-122"/>
                <a:cs typeface="Calibri" pitchFamily="34" charset="-120"/>
              </a:rPr>
              <a:t>Bentham and Mill's answer: the greatest happiness for the greatest number. That means counting all affected parties, not just Greenfield. The right action is the one that produces the most welfare overall.</a:t>
            </a:r>
            <a:endParaRPr lang="en-US" sz="1200" dirty="0"/>
          </a:p>
          <a:p>
            <a:pPr marL="0" indent="0" algn="l">
              <a:lnSpc>
                <a:spcPct val="125000"/>
              </a:lnSpc>
              <a:buNone/>
            </a:pPr>
            <a:endParaRPr lang="en-US" sz="1200" dirty="0"/>
          </a:p>
          <a:p>
            <a:pPr marL="0" indent="0" algn="l">
              <a:lnSpc>
                <a:spcPct val="125000"/>
              </a:lnSpc>
              <a:buNone/>
            </a:pPr>
            <a:r>
              <a:rPr lang="en-US" sz="1200" dirty="0">
                <a:solidFill>
                  <a:srgbClr val="292929"/>
                </a:solidFill>
                <a:latin typeface="Calibri" pitchFamily="34" charset="0"/>
                <a:ea typeface="Calibri" pitchFamily="34" charset="-122"/>
                <a:cs typeface="Calibri" pitchFamily="34" charset="-120"/>
              </a:rPr>
              <a:t>(Crane and Matten, 2019, pp.103–108)</a:t>
            </a:r>
            <a:endParaRPr lang="en-US" sz="1200" dirty="0"/>
          </a:p>
        </p:txBody>
      </p:sp>
      <p:sp>
        <p:nvSpPr>
          <p:cNvPr id="5" name="Text 3"/>
          <p:cNvSpPr/>
          <p:nvPr/>
        </p:nvSpPr>
        <p:spPr>
          <a:xfrm>
            <a:off x="4160520" y="594360"/>
            <a:ext cx="4663440" cy="228600"/>
          </a:xfrm>
          <a:prstGeom prst="rect">
            <a:avLst/>
          </a:prstGeom>
          <a:noFill/>
          <a:ln/>
        </p:spPr>
        <p:txBody>
          <a:bodyPr wrap="square" lIns="0" tIns="0" rIns="0" bIns="0" rtlCol="0" anchor="ctr"/>
          <a:lstStyle/>
          <a:p>
            <a:pPr marL="0" indent="0" algn="l">
              <a:buNone/>
            </a:pPr>
            <a:r>
              <a:rPr lang="en-US" sz="900" b="1" kern="0" spc="200" dirty="0">
                <a:solidFill>
                  <a:srgbClr val="BF2C1F"/>
                </a:solidFill>
                <a:latin typeface="Calibri" pitchFamily="34" charset="0"/>
                <a:ea typeface="Calibri" pitchFamily="34" charset="-122"/>
                <a:cs typeface="Calibri" pitchFamily="34" charset="-120"/>
              </a:rPr>
              <a:t>APPLIED TO EACH OPTION</a:t>
            </a:r>
            <a:endParaRPr lang="en-US" sz="900" dirty="0"/>
          </a:p>
        </p:txBody>
      </p:sp>
      <p:sp>
        <p:nvSpPr>
          <p:cNvPr id="6" name="Text 4"/>
          <p:cNvSpPr/>
          <p:nvPr/>
        </p:nvSpPr>
        <p:spPr>
          <a:xfrm>
            <a:off x="4160520" y="850392"/>
            <a:ext cx="4663440" cy="3886200"/>
          </a:xfrm>
          <a:prstGeom prst="rect">
            <a:avLst/>
          </a:prstGeom>
          <a:noFill/>
          <a:ln/>
        </p:spPr>
        <p:txBody>
          <a:bodyPr wrap="square" lIns="0" tIns="0" rIns="0" bIns="0" rtlCol="0" anchor="t"/>
          <a:lstStyle/>
          <a:p>
            <a:pPr marL="0" indent="0" algn="l">
              <a:lnSpc>
                <a:spcPct val="125000"/>
              </a:lnSpc>
              <a:buNone/>
            </a:pPr>
            <a:r>
              <a:rPr lang="en-US" sz="1150" dirty="0">
                <a:solidFill>
                  <a:srgbClr val="292929"/>
                </a:solidFill>
                <a:latin typeface="Calibri" pitchFamily="34" charset="0"/>
                <a:ea typeface="Calibri" pitchFamily="34" charset="-122"/>
                <a:cs typeface="Calibri" pitchFamily="34" charset="-120"/>
              </a:rPr>
              <a:t>If you accept: one contract won, 85 jobs in the short term. But if it surfaces, and these things do surface, the costs are enormous. Prosecution, debarment, a reputation built over two decades could potentially be ruined.</a:t>
            </a:r>
          </a:p>
          <a:p>
            <a:pPr marL="0" indent="0" algn="l">
              <a:lnSpc>
                <a:spcPct val="125000"/>
              </a:lnSpc>
              <a:buNone/>
            </a:pPr>
            <a:endParaRPr lang="en-US" sz="1150" dirty="0"/>
          </a:p>
          <a:p>
            <a:pPr marL="0" indent="0" algn="l">
              <a:lnSpc>
                <a:spcPct val="125000"/>
              </a:lnSpc>
              <a:buNone/>
            </a:pPr>
            <a:r>
              <a:rPr lang="en-US" sz="1150" dirty="0">
                <a:solidFill>
                  <a:srgbClr val="292929"/>
                </a:solidFill>
                <a:latin typeface="Calibri" pitchFamily="34" charset="0"/>
                <a:ea typeface="Calibri" pitchFamily="34" charset="-122"/>
                <a:cs typeface="Calibri" pitchFamily="34" charset="-120"/>
              </a:rPr>
              <a:t>If you stay quiet: you avoid direct harm to Greenfield. But the corrupt process keeps running. The community still loses out on a fair competition. It's cleaner than option A but not by much.</a:t>
            </a:r>
            <a:endParaRPr lang="en-US" sz="1150" dirty="0"/>
          </a:p>
          <a:p>
            <a:pPr marL="0" indent="0" algn="l">
              <a:lnSpc>
                <a:spcPct val="125000"/>
              </a:lnSpc>
              <a:buNone/>
            </a:pPr>
            <a:endParaRPr lang="en-US" sz="1150" dirty="0"/>
          </a:p>
          <a:p>
            <a:pPr marL="0" indent="0" algn="l">
              <a:lnSpc>
                <a:spcPct val="125000"/>
              </a:lnSpc>
              <a:buNone/>
            </a:pPr>
            <a:r>
              <a:rPr lang="en-US" sz="1150" dirty="0">
                <a:solidFill>
                  <a:srgbClr val="292929"/>
                </a:solidFill>
                <a:latin typeface="Calibri" pitchFamily="34" charset="0"/>
                <a:ea typeface="Calibri" pitchFamily="34" charset="-122"/>
                <a:cs typeface="Calibri" pitchFamily="34" charset="-120"/>
              </a:rPr>
              <a:t>If you decline and report: you might lose this contract and that's a real cost. But Greenfield's public sector pipeline stays intact. The community gets a fair process. Richard's conduct stops before it reaches the next bidder.</a:t>
            </a:r>
            <a:endParaRPr lang="en-US" sz="1150" dirty="0"/>
          </a:p>
          <a:p>
            <a:pPr marL="0" indent="0" algn="l">
              <a:lnSpc>
                <a:spcPct val="125000"/>
              </a:lnSpc>
              <a:buNone/>
            </a:pPr>
            <a:endParaRPr lang="en-US" sz="1150" dirty="0"/>
          </a:p>
          <a:p>
            <a:pPr>
              <a:lnSpc>
                <a:spcPct val="125000"/>
              </a:lnSpc>
            </a:pPr>
            <a:r>
              <a:rPr lang="en-GB" sz="1150" dirty="0">
                <a:solidFill>
                  <a:srgbClr val="292929"/>
                </a:solidFill>
                <a:latin typeface="Calibri" pitchFamily="34" charset="0"/>
                <a:ea typeface="Calibri" pitchFamily="34" charset="-122"/>
                <a:cs typeface="Calibri" pitchFamily="34" charset="-120"/>
              </a:rPr>
              <a:t>One caveat, however: this assumes getting caught is a real risk. Deontology doesn't need that assumption.</a:t>
            </a:r>
            <a:endParaRPr lang="en-US" sz="1150" dirty="0"/>
          </a:p>
        </p:txBody>
      </p:sp>
      <p:pic>
        <p:nvPicPr>
          <p:cNvPr id="1030" name="Picture 6" descr="Balance scale Images - Free Download on Freepik">
            <a:extLst>
              <a:ext uri="{FF2B5EF4-FFF2-40B4-BE49-F238E27FC236}">
                <a16:creationId xmlns:a16="http://schemas.microsoft.com/office/drawing/2014/main" id="{065E9205-264A-913B-A576-C0AB5A24FA0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 y="3193956"/>
            <a:ext cx="2355342" cy="1542636"/>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228600" y="91440"/>
            <a:ext cx="8549640" cy="411480"/>
          </a:xfrm>
          <a:prstGeom prst="rect">
            <a:avLst/>
          </a:prstGeom>
          <a:noFill/>
          <a:ln/>
        </p:spPr>
        <p:txBody>
          <a:bodyPr wrap="square" lIns="0" tIns="0" rIns="0" bIns="0" rtlCol="0" anchor="ctr"/>
          <a:lstStyle/>
          <a:p>
            <a:pPr marL="0" indent="0" algn="l">
              <a:buNone/>
            </a:pPr>
            <a:r>
              <a:rPr lang="en-US" sz="2000" b="1" dirty="0">
                <a:solidFill>
                  <a:srgbClr val="151515"/>
                </a:solidFill>
                <a:latin typeface="Calibri" pitchFamily="34" charset="0"/>
                <a:ea typeface="Calibri" pitchFamily="34" charset="-122"/>
                <a:cs typeface="Calibri" pitchFamily="34" charset="-120"/>
              </a:rPr>
              <a:t>Ethical analysis: deontology</a:t>
            </a:r>
            <a:endParaRPr lang="en-US" sz="2000" dirty="0"/>
          </a:p>
        </p:txBody>
      </p:sp>
      <p:sp>
        <p:nvSpPr>
          <p:cNvPr id="3" name="Text 1"/>
          <p:cNvSpPr/>
          <p:nvPr/>
        </p:nvSpPr>
        <p:spPr>
          <a:xfrm>
            <a:off x="457200" y="594360"/>
            <a:ext cx="3383280" cy="228600"/>
          </a:xfrm>
          <a:prstGeom prst="rect">
            <a:avLst/>
          </a:prstGeom>
          <a:noFill/>
          <a:ln/>
        </p:spPr>
        <p:txBody>
          <a:bodyPr wrap="square" lIns="0" tIns="0" rIns="0" bIns="0" rtlCol="0" anchor="ctr"/>
          <a:lstStyle/>
          <a:p>
            <a:pPr marL="0" indent="0" algn="l">
              <a:buNone/>
            </a:pPr>
            <a:r>
              <a:rPr lang="en-US" sz="900" b="1" kern="0" spc="200" dirty="0">
                <a:solidFill>
                  <a:srgbClr val="BF2C1F"/>
                </a:solidFill>
                <a:latin typeface="Calibri" pitchFamily="34" charset="0"/>
                <a:ea typeface="Calibri" pitchFamily="34" charset="-122"/>
                <a:cs typeface="Calibri" pitchFamily="34" charset="-120"/>
              </a:rPr>
              <a:t>THE FRAMEWORK</a:t>
            </a:r>
            <a:endParaRPr lang="en-US" sz="900" dirty="0"/>
          </a:p>
        </p:txBody>
      </p:sp>
      <p:sp>
        <p:nvSpPr>
          <p:cNvPr id="4" name="Text 2"/>
          <p:cNvSpPr/>
          <p:nvPr/>
        </p:nvSpPr>
        <p:spPr>
          <a:xfrm>
            <a:off x="457200" y="850392"/>
            <a:ext cx="3383280" cy="3886200"/>
          </a:xfrm>
          <a:prstGeom prst="rect">
            <a:avLst/>
          </a:prstGeom>
          <a:noFill/>
          <a:ln/>
        </p:spPr>
        <p:txBody>
          <a:bodyPr wrap="square" lIns="0" tIns="0" rIns="0" bIns="0" rtlCol="0" anchor="t"/>
          <a:lstStyle/>
          <a:p>
            <a:pPr marL="0" indent="0" algn="l">
              <a:lnSpc>
                <a:spcPct val="125000"/>
              </a:lnSpc>
              <a:buNone/>
            </a:pPr>
            <a:r>
              <a:rPr lang="en-US" sz="1200" dirty="0">
                <a:solidFill>
                  <a:srgbClr val="292929"/>
                </a:solidFill>
                <a:latin typeface="Calibri" pitchFamily="34" charset="0"/>
                <a:ea typeface="Calibri" pitchFamily="34" charset="-122"/>
                <a:cs typeface="Calibri" pitchFamily="34" charset="-120"/>
              </a:rPr>
              <a:t>Kant's deontological ethics isn't interested in outcomes. An action is right or wrong based on what it is, not what it produces.</a:t>
            </a:r>
            <a:endParaRPr lang="en-US" sz="1200" dirty="0"/>
          </a:p>
          <a:p>
            <a:pPr marL="0" indent="0" algn="l">
              <a:lnSpc>
                <a:spcPct val="125000"/>
              </a:lnSpc>
              <a:buNone/>
            </a:pPr>
            <a:endParaRPr lang="en-US" sz="1200" dirty="0"/>
          </a:p>
          <a:p>
            <a:pPr marL="0" indent="0" algn="l">
              <a:lnSpc>
                <a:spcPct val="125000"/>
              </a:lnSpc>
              <a:buNone/>
            </a:pPr>
            <a:r>
              <a:rPr lang="en-US" sz="1200" dirty="0">
                <a:solidFill>
                  <a:srgbClr val="292929"/>
                </a:solidFill>
                <a:latin typeface="Calibri" pitchFamily="34" charset="0"/>
                <a:ea typeface="Calibri" pitchFamily="34" charset="-122"/>
                <a:cs typeface="Calibri" pitchFamily="34" charset="-120"/>
              </a:rPr>
              <a:t>Two tests from the categorical imperative:</a:t>
            </a:r>
            <a:endParaRPr lang="en-US" sz="1200" dirty="0"/>
          </a:p>
          <a:p>
            <a:pPr marL="0" indent="0" algn="l">
              <a:lnSpc>
                <a:spcPct val="125000"/>
              </a:lnSpc>
              <a:buNone/>
            </a:pPr>
            <a:endParaRPr lang="en-US" sz="1200" dirty="0"/>
          </a:p>
          <a:p>
            <a:pPr marL="0" indent="0" algn="l">
              <a:lnSpc>
                <a:spcPct val="125000"/>
              </a:lnSpc>
              <a:buNone/>
            </a:pPr>
            <a:r>
              <a:rPr lang="en-US" sz="1200" dirty="0">
                <a:solidFill>
                  <a:srgbClr val="292929"/>
                </a:solidFill>
                <a:latin typeface="Calibri" pitchFamily="34" charset="0"/>
                <a:ea typeface="Calibri" pitchFamily="34" charset="-122"/>
                <a:cs typeface="Calibri" pitchFamily="34" charset="-120"/>
              </a:rPr>
              <a:t>(i) Universalisability: act only on rules that could apply to everyone</a:t>
            </a:r>
            <a:endParaRPr lang="en-US" sz="1200" dirty="0"/>
          </a:p>
          <a:p>
            <a:pPr marL="0" indent="0" algn="l">
              <a:lnSpc>
                <a:spcPct val="125000"/>
              </a:lnSpc>
              <a:buNone/>
            </a:pPr>
            <a:endParaRPr lang="en-US" sz="1200" dirty="0"/>
          </a:p>
          <a:p>
            <a:pPr marL="0" indent="0" algn="l">
              <a:lnSpc>
                <a:spcPct val="125000"/>
              </a:lnSpc>
              <a:buNone/>
            </a:pPr>
            <a:r>
              <a:rPr lang="en-US" sz="1200" dirty="0">
                <a:solidFill>
                  <a:srgbClr val="292929"/>
                </a:solidFill>
                <a:latin typeface="Calibri" pitchFamily="34" charset="0"/>
                <a:ea typeface="Calibri" pitchFamily="34" charset="-122"/>
                <a:cs typeface="Calibri" pitchFamily="34" charset="-120"/>
              </a:rPr>
              <a:t>(ii) Humanity: treat people as ends in themselves, not as means to an end</a:t>
            </a:r>
            <a:endParaRPr lang="en-US" sz="1200" dirty="0"/>
          </a:p>
          <a:p>
            <a:pPr marL="0" indent="0" algn="l">
              <a:lnSpc>
                <a:spcPct val="125000"/>
              </a:lnSpc>
              <a:buNone/>
            </a:pPr>
            <a:endParaRPr lang="en-US" sz="1200" dirty="0"/>
          </a:p>
          <a:p>
            <a:pPr marL="0" indent="0" algn="l">
              <a:lnSpc>
                <a:spcPct val="125000"/>
              </a:lnSpc>
              <a:buNone/>
            </a:pPr>
            <a:r>
              <a:rPr lang="en-US" sz="1200" dirty="0">
                <a:solidFill>
                  <a:srgbClr val="292929"/>
                </a:solidFill>
                <a:latin typeface="Calibri" pitchFamily="34" charset="0"/>
                <a:ea typeface="Calibri" pitchFamily="34" charset="-122"/>
                <a:cs typeface="Calibri" pitchFamily="34" charset="-120"/>
              </a:rPr>
              <a:t>(Fisher and Lovell, 2009, pp.88–95)</a:t>
            </a:r>
            <a:endParaRPr lang="en-US" sz="1200" dirty="0"/>
          </a:p>
        </p:txBody>
      </p:sp>
      <p:sp>
        <p:nvSpPr>
          <p:cNvPr id="5" name="Text 3"/>
          <p:cNvSpPr/>
          <p:nvPr/>
        </p:nvSpPr>
        <p:spPr>
          <a:xfrm>
            <a:off x="4160520" y="594360"/>
            <a:ext cx="4663440" cy="228600"/>
          </a:xfrm>
          <a:prstGeom prst="rect">
            <a:avLst/>
          </a:prstGeom>
          <a:noFill/>
          <a:ln/>
        </p:spPr>
        <p:txBody>
          <a:bodyPr wrap="square" lIns="0" tIns="0" rIns="0" bIns="0" rtlCol="0" anchor="ctr"/>
          <a:lstStyle/>
          <a:p>
            <a:pPr marL="0" indent="0" algn="l">
              <a:buNone/>
            </a:pPr>
            <a:r>
              <a:rPr lang="en-US" sz="900" b="1" kern="0" spc="200" dirty="0">
                <a:solidFill>
                  <a:srgbClr val="BF2C1F"/>
                </a:solidFill>
                <a:latin typeface="Calibri" pitchFamily="34" charset="0"/>
                <a:ea typeface="Calibri" pitchFamily="34" charset="-122"/>
                <a:cs typeface="Calibri" pitchFamily="34" charset="-120"/>
              </a:rPr>
              <a:t>APPLIED TO GREENFIELD</a:t>
            </a:r>
            <a:endParaRPr lang="en-US" sz="900" dirty="0"/>
          </a:p>
        </p:txBody>
      </p:sp>
      <p:sp>
        <p:nvSpPr>
          <p:cNvPr id="6" name="Text 4"/>
          <p:cNvSpPr/>
          <p:nvPr/>
        </p:nvSpPr>
        <p:spPr>
          <a:xfrm>
            <a:off x="4160520" y="850392"/>
            <a:ext cx="4663440" cy="3886200"/>
          </a:xfrm>
          <a:prstGeom prst="rect">
            <a:avLst/>
          </a:prstGeom>
          <a:noFill/>
          <a:ln/>
        </p:spPr>
        <p:txBody>
          <a:bodyPr wrap="square" lIns="0" tIns="0" rIns="0" bIns="0" rtlCol="0" anchor="t"/>
          <a:lstStyle/>
          <a:p>
            <a:pPr marL="0" indent="0" algn="l">
              <a:lnSpc>
                <a:spcPct val="125000"/>
              </a:lnSpc>
              <a:buNone/>
            </a:pPr>
            <a:r>
              <a:rPr lang="en-US" sz="1150" dirty="0">
                <a:solidFill>
                  <a:srgbClr val="292929"/>
                </a:solidFill>
                <a:latin typeface="Calibri" pitchFamily="34" charset="0"/>
                <a:ea typeface="Calibri" pitchFamily="34" charset="-122"/>
                <a:cs typeface="Calibri" pitchFamily="34" charset="-120"/>
              </a:rPr>
              <a:t>Test 1, universalisability. What if every company in a public tender accepted insider information when offered? The entire procurement system could collapse. The rule can't be universalised. For Kant, that settles it, regardless of how likely discovery is.</a:t>
            </a:r>
            <a:endParaRPr lang="en-US" sz="1150" dirty="0"/>
          </a:p>
          <a:p>
            <a:pPr marL="0" indent="0" algn="l">
              <a:lnSpc>
                <a:spcPct val="125000"/>
              </a:lnSpc>
              <a:buNone/>
            </a:pPr>
            <a:endParaRPr lang="en-US" sz="1150" dirty="0"/>
          </a:p>
          <a:p>
            <a:pPr marL="0" indent="0" algn="l">
              <a:lnSpc>
                <a:spcPct val="125000"/>
              </a:lnSpc>
              <a:buNone/>
            </a:pPr>
            <a:r>
              <a:rPr lang="en-US" sz="1150" dirty="0">
                <a:solidFill>
                  <a:srgbClr val="292929"/>
                </a:solidFill>
                <a:latin typeface="Calibri" pitchFamily="34" charset="0"/>
                <a:ea typeface="Calibri" pitchFamily="34" charset="-122"/>
                <a:cs typeface="Calibri" pitchFamily="34" charset="-120"/>
              </a:rPr>
              <a:t>Test 2, humanity. Richard's offer uses the Council, competing bidders, and the community as instruments/pawns. Accepting makes Greenfield a participant in that. Kant's second formulation rules it out.</a:t>
            </a:r>
            <a:endParaRPr lang="en-US" sz="1150" dirty="0"/>
          </a:p>
          <a:p>
            <a:pPr marL="0" indent="0" algn="l">
              <a:lnSpc>
                <a:spcPct val="125000"/>
              </a:lnSpc>
              <a:buNone/>
            </a:pPr>
            <a:endParaRPr lang="en-US" sz="1150" dirty="0"/>
          </a:p>
          <a:p>
            <a:pPr marL="0" indent="0" algn="l">
              <a:lnSpc>
                <a:spcPct val="125000"/>
              </a:lnSpc>
              <a:buNone/>
            </a:pPr>
            <a:r>
              <a:rPr lang="en-US" sz="1150" dirty="0">
                <a:solidFill>
                  <a:srgbClr val="292929"/>
                </a:solidFill>
                <a:latin typeface="Calibri" pitchFamily="34" charset="0"/>
                <a:ea typeface="Calibri" pitchFamily="34" charset="-122"/>
                <a:cs typeface="Calibri" pitchFamily="34" charset="-120"/>
              </a:rPr>
              <a:t>'Building with integrity' is a commitment Greenfield made themselves. Carroll (1991) makes the same point: ethical responsibilities constrain how economic goals are pursued. Profit doesn't override them.</a:t>
            </a:r>
            <a:endParaRPr lang="en-US" sz="1150" dirty="0"/>
          </a:p>
          <a:p>
            <a:pPr marL="0" indent="0" algn="l">
              <a:lnSpc>
                <a:spcPct val="125000"/>
              </a:lnSpc>
              <a:buNone/>
            </a:pPr>
            <a:endParaRPr lang="en-US" sz="1150" dirty="0"/>
          </a:p>
          <a:p>
            <a:pPr marL="0" indent="0" algn="l">
              <a:lnSpc>
                <a:spcPct val="125000"/>
              </a:lnSpc>
              <a:buNone/>
            </a:pPr>
            <a:r>
              <a:rPr lang="en-US" sz="1150" dirty="0">
                <a:solidFill>
                  <a:srgbClr val="292929"/>
                </a:solidFill>
                <a:latin typeface="Calibri" pitchFamily="34" charset="0"/>
                <a:ea typeface="Calibri" pitchFamily="34" charset="-122"/>
                <a:cs typeface="Calibri" pitchFamily="34" charset="-120"/>
              </a:rPr>
              <a:t>On that, Kant and Carroll agree.</a:t>
            </a:r>
            <a:endParaRPr lang="en-US" sz="1150" dirty="0"/>
          </a:p>
        </p:txBody>
      </p:sp>
      <p:pic>
        <p:nvPicPr>
          <p:cNvPr id="2050" name="Picture 2" descr="Deontology: Over 55 Royalty-Free Licensable Stock Illustrations &amp; Drawings  | Shutterstock">
            <a:extLst>
              <a:ext uri="{FF2B5EF4-FFF2-40B4-BE49-F238E27FC236}">
                <a16:creationId xmlns:a16="http://schemas.microsoft.com/office/drawing/2014/main" id="{E0FCECFD-8966-759D-AD9E-6E43D696BD2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19831" y="3847316"/>
            <a:ext cx="1258409" cy="889276"/>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228600" y="91440"/>
            <a:ext cx="8549640" cy="411480"/>
          </a:xfrm>
          <a:prstGeom prst="rect">
            <a:avLst/>
          </a:prstGeom>
          <a:noFill/>
          <a:ln/>
        </p:spPr>
        <p:txBody>
          <a:bodyPr wrap="square" lIns="0" tIns="0" rIns="0" bIns="0" rtlCol="0" anchor="ctr"/>
          <a:lstStyle/>
          <a:p>
            <a:pPr marL="0" indent="0" algn="l">
              <a:buNone/>
            </a:pPr>
            <a:r>
              <a:rPr lang="en-US" sz="2000" b="1" dirty="0">
                <a:solidFill>
                  <a:srgbClr val="151515"/>
                </a:solidFill>
                <a:latin typeface="Calibri" pitchFamily="34" charset="0"/>
                <a:ea typeface="Calibri" pitchFamily="34" charset="-122"/>
                <a:cs typeface="Calibri" pitchFamily="34" charset="-120"/>
              </a:rPr>
              <a:t>What we recommend</a:t>
            </a:r>
            <a:endParaRPr lang="en-US" sz="2000" dirty="0"/>
          </a:p>
        </p:txBody>
      </p:sp>
      <p:sp>
        <p:nvSpPr>
          <p:cNvPr id="3" name="Text 1"/>
          <p:cNvSpPr/>
          <p:nvPr/>
        </p:nvSpPr>
        <p:spPr>
          <a:xfrm>
            <a:off x="457200" y="594360"/>
            <a:ext cx="8321040" cy="228600"/>
          </a:xfrm>
          <a:prstGeom prst="rect">
            <a:avLst/>
          </a:prstGeom>
          <a:noFill/>
          <a:ln/>
        </p:spPr>
        <p:txBody>
          <a:bodyPr wrap="square" lIns="0" tIns="0" rIns="0" bIns="0" rtlCol="0" anchor="ctr"/>
          <a:lstStyle/>
          <a:p>
            <a:pPr marL="0" indent="0" algn="l">
              <a:buNone/>
            </a:pPr>
            <a:r>
              <a:rPr lang="en-US" sz="900" b="1" kern="0" spc="200" dirty="0">
                <a:solidFill>
                  <a:srgbClr val="BF2C1F"/>
                </a:solidFill>
                <a:latin typeface="Calibri" pitchFamily="34" charset="0"/>
                <a:ea typeface="Calibri" pitchFamily="34" charset="-122"/>
                <a:cs typeface="Calibri" pitchFamily="34" charset="-120"/>
              </a:rPr>
              <a:t>OUR RECOMMENDATION</a:t>
            </a:r>
            <a:endParaRPr lang="en-US" sz="900" dirty="0"/>
          </a:p>
        </p:txBody>
      </p:sp>
      <p:sp>
        <p:nvSpPr>
          <p:cNvPr id="4" name="Text 2"/>
          <p:cNvSpPr/>
          <p:nvPr/>
        </p:nvSpPr>
        <p:spPr>
          <a:xfrm>
            <a:off x="457200" y="850392"/>
            <a:ext cx="8321040" cy="749808"/>
          </a:xfrm>
          <a:prstGeom prst="rect">
            <a:avLst/>
          </a:prstGeom>
          <a:noFill/>
          <a:ln/>
        </p:spPr>
        <p:txBody>
          <a:bodyPr wrap="square" lIns="0" tIns="0" rIns="0" bIns="0" rtlCol="0" anchor="t"/>
          <a:lstStyle/>
          <a:p>
            <a:pPr marL="0" indent="0" algn="l">
              <a:lnSpc>
                <a:spcPct val="125000"/>
              </a:lnSpc>
              <a:buNone/>
            </a:pPr>
            <a:r>
              <a:rPr lang="en-US" sz="1250" dirty="0">
                <a:solidFill>
                  <a:srgbClr val="292929"/>
                </a:solidFill>
                <a:latin typeface="Calibri" pitchFamily="34" charset="0"/>
                <a:ea typeface="Calibri" pitchFamily="34" charset="-122"/>
                <a:cs typeface="Calibri" pitchFamily="34" charset="-120"/>
              </a:rPr>
              <a:t>Decline Richard Hale's offer and report his conduct to Avondale County Council's monitoring officer. Utilitarianism and deontology point the same way. The table below shows what that means for each stakeholder.</a:t>
            </a:r>
            <a:endParaRPr lang="en-US" sz="125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457200" y="1673352"/>
          <a:ext cx="8321040" cy="3291840"/>
        </p:xfrm>
        <a:graphic>
          <a:graphicData uri="http://schemas.openxmlformats.org/drawingml/2006/table">
            <a:tbl>
              <a:tblPr/>
              <a:tblGrid>
                <a:gridCol w="2773680">
                  <a:extLst>
                    <a:ext uri="{9D8B030D-6E8A-4147-A177-3AD203B41FA5}">
                      <a16:colId xmlns:a16="http://schemas.microsoft.com/office/drawing/2014/main" val="20000"/>
                    </a:ext>
                  </a:extLst>
                </a:gridCol>
                <a:gridCol w="2773680">
                  <a:extLst>
                    <a:ext uri="{9D8B030D-6E8A-4147-A177-3AD203B41FA5}">
                      <a16:colId xmlns:a16="http://schemas.microsoft.com/office/drawing/2014/main" val="20001"/>
                    </a:ext>
                  </a:extLst>
                </a:gridCol>
                <a:gridCol w="2773680">
                  <a:extLst>
                    <a:ext uri="{9D8B030D-6E8A-4147-A177-3AD203B41FA5}">
                      <a16:colId xmlns:a16="http://schemas.microsoft.com/office/drawing/2014/main" val="20002"/>
                    </a:ext>
                  </a:extLst>
                </a:gridCol>
              </a:tblGrid>
              <a:tr h="457200">
                <a:tc>
                  <a:txBody>
                    <a:bodyPr/>
                    <a:lstStyle/>
                    <a:p>
                      <a:pPr marL="0" indent="0" algn="l">
                        <a:buNone/>
                      </a:pPr>
                      <a:r>
                        <a:rPr lang="en-US" sz="1000" b="1" dirty="0">
                          <a:solidFill>
                            <a:srgbClr val="FFFFFF"/>
                          </a:solidFill>
                          <a:latin typeface="Calibri" pitchFamily="34" charset="0"/>
                          <a:ea typeface="Calibri" pitchFamily="34" charset="-122"/>
                          <a:cs typeface="Calibri" pitchFamily="34" charset="-120"/>
                        </a:rPr>
                        <a:t>Stakeholder</a:t>
                      </a:r>
                      <a:endParaRPr lang="en-US" sz="1000" dirty="0">
                        <a:latin typeface="Calibri" charset="0"/>
                        <a:ea typeface="Calibri" charset="0"/>
                        <a:cs typeface="Calibri" charset="0"/>
                      </a:endParaRPr>
                    </a:p>
                  </a:txBody>
                  <a:tcPr anchor="ctr">
                    <a:lnL w="6350" cap="flat" cmpd="sng" algn="ctr">
                      <a:solidFill>
                        <a:srgbClr val="DCDCDC"/>
                      </a:solidFill>
                      <a:prstDash val="solid"/>
                      <a:round/>
                      <a:headEnd type="none" w="med" len="med"/>
                      <a:tailEnd type="none" w="med" len="med"/>
                    </a:lnL>
                    <a:lnR w="6350" cap="flat" cmpd="sng" algn="ctr">
                      <a:solidFill>
                        <a:srgbClr val="DCDCDC"/>
                      </a:solidFill>
                      <a:prstDash val="solid"/>
                      <a:round/>
                      <a:headEnd type="none" w="med" len="med"/>
                      <a:tailEnd type="none" w="med" len="med"/>
                    </a:lnR>
                    <a:lnT w="6350" cap="flat" cmpd="sng" algn="ctr">
                      <a:solidFill>
                        <a:srgbClr val="DCDCDC"/>
                      </a:solidFill>
                      <a:prstDash val="solid"/>
                      <a:round/>
                      <a:headEnd type="none" w="med" len="med"/>
                      <a:tailEnd type="none" w="med" len="med"/>
                    </a:lnT>
                    <a:lnB w="6350" cap="flat" cmpd="sng" algn="ctr">
                      <a:solidFill>
                        <a:srgbClr val="DCDCDC"/>
                      </a:solidFill>
                      <a:prstDash val="solid"/>
                      <a:round/>
                      <a:headEnd type="none" w="med" len="med"/>
                      <a:tailEnd type="none" w="med" len="med"/>
                    </a:lnB>
                    <a:solidFill>
                      <a:srgbClr val="0F1319"/>
                    </a:solidFill>
                  </a:tcPr>
                </a:tc>
                <a:tc>
                  <a:txBody>
                    <a:bodyPr/>
                    <a:lstStyle/>
                    <a:p>
                      <a:pPr marL="0" indent="0" algn="l">
                        <a:buNone/>
                      </a:pPr>
                      <a:r>
                        <a:rPr lang="en-US" sz="1000" b="1" dirty="0">
                          <a:solidFill>
                            <a:srgbClr val="FFFFFF"/>
                          </a:solidFill>
                          <a:latin typeface="Calibri" pitchFamily="34" charset="0"/>
                          <a:ea typeface="Calibri" pitchFamily="34" charset="-122"/>
                          <a:cs typeface="Calibri" pitchFamily="34" charset="-120"/>
                        </a:rPr>
                        <a:t>Their interest</a:t>
                      </a:r>
                      <a:endParaRPr lang="en-US" sz="1000" dirty="0">
                        <a:latin typeface="Calibri" charset="0"/>
                        <a:ea typeface="Calibri" charset="0"/>
                        <a:cs typeface="Calibri" charset="0"/>
                      </a:endParaRPr>
                    </a:p>
                  </a:txBody>
                  <a:tcPr anchor="ctr">
                    <a:lnL w="6350" cap="flat" cmpd="sng" algn="ctr">
                      <a:solidFill>
                        <a:srgbClr val="DCDCDC"/>
                      </a:solidFill>
                      <a:prstDash val="solid"/>
                      <a:round/>
                      <a:headEnd type="none" w="med" len="med"/>
                      <a:tailEnd type="none" w="med" len="med"/>
                    </a:lnL>
                    <a:lnR w="6350" cap="flat" cmpd="sng" algn="ctr">
                      <a:solidFill>
                        <a:srgbClr val="DCDCDC"/>
                      </a:solidFill>
                      <a:prstDash val="solid"/>
                      <a:round/>
                      <a:headEnd type="none" w="med" len="med"/>
                      <a:tailEnd type="none" w="med" len="med"/>
                    </a:lnR>
                    <a:lnT w="6350" cap="flat" cmpd="sng" algn="ctr">
                      <a:solidFill>
                        <a:srgbClr val="DCDCDC"/>
                      </a:solidFill>
                      <a:prstDash val="solid"/>
                      <a:round/>
                      <a:headEnd type="none" w="med" len="med"/>
                      <a:tailEnd type="none" w="med" len="med"/>
                    </a:lnT>
                    <a:lnB w="6350" cap="flat" cmpd="sng" algn="ctr">
                      <a:solidFill>
                        <a:srgbClr val="DCDCDC"/>
                      </a:solidFill>
                      <a:prstDash val="solid"/>
                      <a:round/>
                      <a:headEnd type="none" w="med" len="med"/>
                      <a:tailEnd type="none" w="med" len="med"/>
                    </a:lnB>
                    <a:solidFill>
                      <a:srgbClr val="0F1319"/>
                    </a:solidFill>
                  </a:tcPr>
                </a:tc>
                <a:tc>
                  <a:txBody>
                    <a:bodyPr/>
                    <a:lstStyle/>
                    <a:p>
                      <a:pPr marL="0" indent="0" algn="l">
                        <a:buNone/>
                      </a:pPr>
                      <a:r>
                        <a:rPr lang="en-US" sz="1000" b="1" dirty="0">
                          <a:solidFill>
                            <a:srgbClr val="FFFFFF"/>
                          </a:solidFill>
                          <a:latin typeface="Calibri" pitchFamily="34" charset="0"/>
                          <a:ea typeface="Calibri" pitchFamily="34" charset="-122"/>
                          <a:cs typeface="Calibri" pitchFamily="34" charset="-120"/>
                        </a:rPr>
                        <a:t>Why Option C works for them</a:t>
                      </a:r>
                      <a:endParaRPr lang="en-US" sz="1000" dirty="0">
                        <a:latin typeface="Calibri" charset="0"/>
                        <a:ea typeface="Calibri" charset="0"/>
                        <a:cs typeface="Calibri" charset="0"/>
                      </a:endParaRPr>
                    </a:p>
                  </a:txBody>
                  <a:tcPr anchor="ctr">
                    <a:lnL w="6350" cap="flat" cmpd="sng" algn="ctr">
                      <a:solidFill>
                        <a:srgbClr val="DCDCDC"/>
                      </a:solidFill>
                      <a:prstDash val="solid"/>
                      <a:round/>
                      <a:headEnd type="none" w="med" len="med"/>
                      <a:tailEnd type="none" w="med" len="med"/>
                    </a:lnL>
                    <a:lnR w="6350" cap="flat" cmpd="sng" algn="ctr">
                      <a:solidFill>
                        <a:srgbClr val="DCDCDC"/>
                      </a:solidFill>
                      <a:prstDash val="solid"/>
                      <a:round/>
                      <a:headEnd type="none" w="med" len="med"/>
                      <a:tailEnd type="none" w="med" len="med"/>
                    </a:lnR>
                    <a:lnT w="6350" cap="flat" cmpd="sng" algn="ctr">
                      <a:solidFill>
                        <a:srgbClr val="DCDCDC"/>
                      </a:solidFill>
                      <a:prstDash val="solid"/>
                      <a:round/>
                      <a:headEnd type="none" w="med" len="med"/>
                      <a:tailEnd type="none" w="med" len="med"/>
                    </a:lnT>
                    <a:lnB w="6350" cap="flat" cmpd="sng" algn="ctr">
                      <a:solidFill>
                        <a:srgbClr val="DCDCDC"/>
                      </a:solidFill>
                      <a:prstDash val="solid"/>
                      <a:round/>
                      <a:headEnd type="none" w="med" len="med"/>
                      <a:tailEnd type="none" w="med" len="med"/>
                    </a:lnB>
                    <a:solidFill>
                      <a:srgbClr val="0F1319"/>
                    </a:solidFill>
                  </a:tcPr>
                </a:tc>
                <a:extLst>
                  <a:ext uri="{0D108BD9-81ED-4DB2-BD59-A6C34878D82A}">
                    <a16:rowId xmlns:a16="http://schemas.microsoft.com/office/drawing/2014/main" val="10000"/>
                  </a:ext>
                </a:extLst>
              </a:tr>
              <a:tr h="457200">
                <a:tc>
                  <a:txBody>
                    <a:bodyPr/>
                    <a:lstStyle/>
                    <a:p>
                      <a:pPr marL="0" indent="0" algn="l">
                        <a:buNone/>
                      </a:pPr>
                      <a:r>
                        <a:rPr lang="en-US" sz="1000" dirty="0">
                          <a:solidFill>
                            <a:srgbClr val="000000"/>
                          </a:solidFill>
                          <a:latin typeface="Calibri" pitchFamily="34" charset="0"/>
                          <a:ea typeface="Calibri" pitchFamily="34" charset="-122"/>
                          <a:cs typeface="Calibri" pitchFamily="34" charset="-120"/>
                        </a:rPr>
                        <a:t>Board and shareholders</a:t>
                      </a:r>
                      <a:endParaRPr lang="en-US" sz="1000" dirty="0">
                        <a:latin typeface="Calibri" charset="0"/>
                        <a:ea typeface="Calibri" charset="0"/>
                        <a:cs typeface="Calibri" charset="0"/>
                      </a:endParaRPr>
                    </a:p>
                  </a:txBody>
                  <a:tcPr anchor="ctr">
                    <a:lnL w="6350" cap="flat" cmpd="sng" algn="ctr">
                      <a:solidFill>
                        <a:srgbClr val="DCDCDC"/>
                      </a:solidFill>
                      <a:prstDash val="solid"/>
                      <a:round/>
                      <a:headEnd type="none" w="med" len="med"/>
                      <a:tailEnd type="none" w="med" len="med"/>
                    </a:lnL>
                    <a:lnR w="6350" cap="flat" cmpd="sng" algn="ctr">
                      <a:solidFill>
                        <a:srgbClr val="DCDCDC"/>
                      </a:solidFill>
                      <a:prstDash val="solid"/>
                      <a:round/>
                      <a:headEnd type="none" w="med" len="med"/>
                      <a:tailEnd type="none" w="med" len="med"/>
                    </a:lnR>
                    <a:lnT w="6350" cap="flat" cmpd="sng" algn="ctr">
                      <a:solidFill>
                        <a:srgbClr val="DCDCDC"/>
                      </a:solidFill>
                      <a:prstDash val="solid"/>
                      <a:round/>
                      <a:headEnd type="none" w="med" len="med"/>
                      <a:tailEnd type="none" w="med" len="med"/>
                    </a:lnT>
                    <a:lnB w="6350" cap="flat" cmpd="sng" algn="ctr">
                      <a:solidFill>
                        <a:srgbClr val="DCDCDC"/>
                      </a:solidFill>
                      <a:prstDash val="solid"/>
                      <a:round/>
                      <a:headEnd type="none" w="med" len="med"/>
                      <a:tailEnd type="none" w="med" len="med"/>
                    </a:lnB>
                  </a:tcPr>
                </a:tc>
                <a:tc>
                  <a:txBody>
                    <a:bodyPr/>
                    <a:lstStyle/>
                    <a:p>
                      <a:pPr marL="0" indent="0" algn="l">
                        <a:buNone/>
                      </a:pPr>
                      <a:r>
                        <a:rPr lang="en-US" sz="1000" dirty="0">
                          <a:solidFill>
                            <a:srgbClr val="000000"/>
                          </a:solidFill>
                          <a:latin typeface="Calibri" pitchFamily="34" charset="0"/>
                          <a:ea typeface="Calibri" pitchFamily="34" charset="-122"/>
                          <a:cs typeface="Calibri" pitchFamily="34" charset="-120"/>
                        </a:rPr>
                        <a:t>Risk management, fiduciary duty</a:t>
                      </a:r>
                      <a:endParaRPr lang="en-US" sz="1000" dirty="0">
                        <a:latin typeface="Calibri" charset="0"/>
                        <a:ea typeface="Calibri" charset="0"/>
                        <a:cs typeface="Calibri" charset="0"/>
                      </a:endParaRPr>
                    </a:p>
                  </a:txBody>
                  <a:tcPr anchor="ctr">
                    <a:lnL w="6350" cap="flat" cmpd="sng" algn="ctr">
                      <a:solidFill>
                        <a:srgbClr val="DCDCDC"/>
                      </a:solidFill>
                      <a:prstDash val="solid"/>
                      <a:round/>
                      <a:headEnd type="none" w="med" len="med"/>
                      <a:tailEnd type="none" w="med" len="med"/>
                    </a:lnL>
                    <a:lnR w="6350" cap="flat" cmpd="sng" algn="ctr">
                      <a:solidFill>
                        <a:srgbClr val="DCDCDC"/>
                      </a:solidFill>
                      <a:prstDash val="solid"/>
                      <a:round/>
                      <a:headEnd type="none" w="med" len="med"/>
                      <a:tailEnd type="none" w="med" len="med"/>
                    </a:lnR>
                    <a:lnT w="6350" cap="flat" cmpd="sng" algn="ctr">
                      <a:solidFill>
                        <a:srgbClr val="DCDCDC"/>
                      </a:solidFill>
                      <a:prstDash val="solid"/>
                      <a:round/>
                      <a:headEnd type="none" w="med" len="med"/>
                      <a:tailEnd type="none" w="med" len="med"/>
                    </a:lnT>
                    <a:lnB w="6350" cap="flat" cmpd="sng" algn="ctr">
                      <a:solidFill>
                        <a:srgbClr val="DCDCDC"/>
                      </a:solidFill>
                      <a:prstDash val="solid"/>
                      <a:round/>
                      <a:headEnd type="none" w="med" len="med"/>
                      <a:tailEnd type="none" w="med" len="med"/>
                    </a:lnB>
                  </a:tcPr>
                </a:tc>
                <a:tc>
                  <a:txBody>
                    <a:bodyPr/>
                    <a:lstStyle/>
                    <a:p>
                      <a:pPr marL="0" indent="0" algn="l">
                        <a:buNone/>
                      </a:pPr>
                      <a:r>
                        <a:rPr lang="en-US" sz="1000" dirty="0">
                          <a:solidFill>
                            <a:srgbClr val="000000"/>
                          </a:solidFill>
                          <a:latin typeface="Calibri" pitchFamily="34" charset="0"/>
                          <a:ea typeface="Calibri" pitchFamily="34" charset="-122"/>
                          <a:cs typeface="Calibri" pitchFamily="34" charset="-120"/>
                        </a:rPr>
                        <a:t>Criminal liability off the table; governance obligations met</a:t>
                      </a:r>
                      <a:endParaRPr lang="en-US" sz="1000" dirty="0">
                        <a:latin typeface="Calibri" charset="0"/>
                        <a:ea typeface="Calibri" charset="0"/>
                        <a:cs typeface="Calibri" charset="0"/>
                      </a:endParaRPr>
                    </a:p>
                  </a:txBody>
                  <a:tcPr anchor="ctr">
                    <a:lnL w="6350" cap="flat" cmpd="sng" algn="ctr">
                      <a:solidFill>
                        <a:srgbClr val="DCDCDC"/>
                      </a:solidFill>
                      <a:prstDash val="solid"/>
                      <a:round/>
                      <a:headEnd type="none" w="med" len="med"/>
                      <a:tailEnd type="none" w="med" len="med"/>
                    </a:lnL>
                    <a:lnR w="6350" cap="flat" cmpd="sng" algn="ctr">
                      <a:solidFill>
                        <a:srgbClr val="DCDCDC"/>
                      </a:solidFill>
                      <a:prstDash val="solid"/>
                      <a:round/>
                      <a:headEnd type="none" w="med" len="med"/>
                      <a:tailEnd type="none" w="med" len="med"/>
                    </a:lnR>
                    <a:lnT w="6350" cap="flat" cmpd="sng" algn="ctr">
                      <a:solidFill>
                        <a:srgbClr val="DCDCDC"/>
                      </a:solidFill>
                      <a:prstDash val="solid"/>
                      <a:round/>
                      <a:headEnd type="none" w="med" len="med"/>
                      <a:tailEnd type="none" w="med" len="med"/>
                    </a:lnT>
                    <a:lnB w="6350" cap="flat" cmpd="sng" algn="ctr">
                      <a:solidFill>
                        <a:srgbClr val="DCDCDC"/>
                      </a:solidFill>
                      <a:prstDash val="solid"/>
                      <a:round/>
                      <a:headEnd type="none" w="med" len="med"/>
                      <a:tailEnd type="none" w="med" len="med"/>
                    </a:lnB>
                  </a:tcPr>
                </a:tc>
                <a:extLst>
                  <a:ext uri="{0D108BD9-81ED-4DB2-BD59-A6C34878D82A}">
                    <a16:rowId xmlns:a16="http://schemas.microsoft.com/office/drawing/2014/main" val="10001"/>
                  </a:ext>
                </a:extLst>
              </a:tr>
              <a:tr h="457200">
                <a:tc>
                  <a:txBody>
                    <a:bodyPr/>
                    <a:lstStyle/>
                    <a:p>
                      <a:pPr marL="0" indent="0" algn="l">
                        <a:buNone/>
                      </a:pPr>
                      <a:r>
                        <a:rPr lang="en-US" sz="1000" dirty="0">
                          <a:solidFill>
                            <a:srgbClr val="000000"/>
                          </a:solidFill>
                          <a:latin typeface="Calibri" pitchFamily="34" charset="0"/>
                          <a:ea typeface="Calibri" pitchFamily="34" charset="-122"/>
                          <a:cs typeface="Calibri" pitchFamily="34" charset="-120"/>
                        </a:rPr>
                        <a:t>Employees (85 staff)</a:t>
                      </a:r>
                      <a:endParaRPr lang="en-US" sz="1000" dirty="0">
                        <a:latin typeface="Calibri" charset="0"/>
                        <a:ea typeface="Calibri" charset="0"/>
                        <a:cs typeface="Calibri" charset="0"/>
                      </a:endParaRPr>
                    </a:p>
                  </a:txBody>
                  <a:tcPr anchor="ctr">
                    <a:lnL w="6350" cap="flat" cmpd="sng" algn="ctr">
                      <a:solidFill>
                        <a:srgbClr val="DCDCDC"/>
                      </a:solidFill>
                      <a:prstDash val="solid"/>
                      <a:round/>
                      <a:headEnd type="none" w="med" len="med"/>
                      <a:tailEnd type="none" w="med" len="med"/>
                    </a:lnL>
                    <a:lnR w="6350" cap="flat" cmpd="sng" algn="ctr">
                      <a:solidFill>
                        <a:srgbClr val="DCDCDC"/>
                      </a:solidFill>
                      <a:prstDash val="solid"/>
                      <a:round/>
                      <a:headEnd type="none" w="med" len="med"/>
                      <a:tailEnd type="none" w="med" len="med"/>
                    </a:lnR>
                    <a:lnT w="6350" cap="flat" cmpd="sng" algn="ctr">
                      <a:solidFill>
                        <a:srgbClr val="DCDCDC"/>
                      </a:solidFill>
                      <a:prstDash val="solid"/>
                      <a:round/>
                      <a:headEnd type="none" w="med" len="med"/>
                      <a:tailEnd type="none" w="med" len="med"/>
                    </a:lnT>
                    <a:lnB w="6350" cap="flat" cmpd="sng" algn="ctr">
                      <a:solidFill>
                        <a:srgbClr val="DCDCDC"/>
                      </a:solidFill>
                      <a:prstDash val="solid"/>
                      <a:round/>
                      <a:headEnd type="none" w="med" len="med"/>
                      <a:tailEnd type="none" w="med" len="med"/>
                    </a:lnB>
                  </a:tcPr>
                </a:tc>
                <a:tc>
                  <a:txBody>
                    <a:bodyPr/>
                    <a:lstStyle/>
                    <a:p>
                      <a:pPr marL="0" indent="0" algn="l">
                        <a:buNone/>
                      </a:pPr>
                      <a:r>
                        <a:rPr lang="en-US" sz="1000" dirty="0">
                          <a:solidFill>
                            <a:srgbClr val="000000"/>
                          </a:solidFill>
                          <a:latin typeface="Calibri" pitchFamily="34" charset="0"/>
                          <a:ea typeface="Calibri" pitchFamily="34" charset="-122"/>
                          <a:cs typeface="Calibri" pitchFamily="34" charset="-120"/>
                        </a:rPr>
                        <a:t>Job security, long term</a:t>
                      </a:r>
                      <a:endParaRPr lang="en-US" sz="1000" dirty="0">
                        <a:latin typeface="Calibri" charset="0"/>
                        <a:ea typeface="Calibri" charset="0"/>
                        <a:cs typeface="Calibri" charset="0"/>
                      </a:endParaRPr>
                    </a:p>
                  </a:txBody>
                  <a:tcPr anchor="ctr">
                    <a:lnL w="6350" cap="flat" cmpd="sng" algn="ctr">
                      <a:solidFill>
                        <a:srgbClr val="DCDCDC"/>
                      </a:solidFill>
                      <a:prstDash val="solid"/>
                      <a:round/>
                      <a:headEnd type="none" w="med" len="med"/>
                      <a:tailEnd type="none" w="med" len="med"/>
                    </a:lnL>
                    <a:lnR w="6350" cap="flat" cmpd="sng" algn="ctr">
                      <a:solidFill>
                        <a:srgbClr val="DCDCDC"/>
                      </a:solidFill>
                      <a:prstDash val="solid"/>
                      <a:round/>
                      <a:headEnd type="none" w="med" len="med"/>
                      <a:tailEnd type="none" w="med" len="med"/>
                    </a:lnR>
                    <a:lnT w="6350" cap="flat" cmpd="sng" algn="ctr">
                      <a:solidFill>
                        <a:srgbClr val="DCDCDC"/>
                      </a:solidFill>
                      <a:prstDash val="solid"/>
                      <a:round/>
                      <a:headEnd type="none" w="med" len="med"/>
                      <a:tailEnd type="none" w="med" len="med"/>
                    </a:lnT>
                    <a:lnB w="6350" cap="flat" cmpd="sng" algn="ctr">
                      <a:solidFill>
                        <a:srgbClr val="DCDCDC"/>
                      </a:solidFill>
                      <a:prstDash val="solid"/>
                      <a:round/>
                      <a:headEnd type="none" w="med" len="med"/>
                      <a:tailEnd type="none" w="med" len="med"/>
                    </a:lnB>
                  </a:tcPr>
                </a:tc>
                <a:tc>
                  <a:txBody>
                    <a:bodyPr/>
                    <a:lstStyle/>
                    <a:p>
                      <a:pPr marL="0" indent="0" algn="l">
                        <a:buNone/>
                      </a:pPr>
                      <a:r>
                        <a:rPr lang="en-US" sz="1000" dirty="0">
                          <a:solidFill>
                            <a:srgbClr val="000000"/>
                          </a:solidFill>
                          <a:latin typeface="Calibri" pitchFamily="34" charset="0"/>
                          <a:ea typeface="Calibri" pitchFamily="34" charset="-122"/>
                          <a:cs typeface="Calibri" pitchFamily="34" charset="-120"/>
                        </a:rPr>
                        <a:t>A sustainable reputation is what secures the next contract, and the one after that</a:t>
                      </a:r>
                      <a:endParaRPr lang="en-US" sz="1000" dirty="0">
                        <a:latin typeface="Calibri" charset="0"/>
                        <a:ea typeface="Calibri" charset="0"/>
                        <a:cs typeface="Calibri" charset="0"/>
                      </a:endParaRPr>
                    </a:p>
                  </a:txBody>
                  <a:tcPr anchor="ctr">
                    <a:lnL w="6350" cap="flat" cmpd="sng" algn="ctr">
                      <a:solidFill>
                        <a:srgbClr val="DCDCDC"/>
                      </a:solidFill>
                      <a:prstDash val="solid"/>
                      <a:round/>
                      <a:headEnd type="none" w="med" len="med"/>
                      <a:tailEnd type="none" w="med" len="med"/>
                    </a:lnL>
                    <a:lnR w="6350" cap="flat" cmpd="sng" algn="ctr">
                      <a:solidFill>
                        <a:srgbClr val="DCDCDC"/>
                      </a:solidFill>
                      <a:prstDash val="solid"/>
                      <a:round/>
                      <a:headEnd type="none" w="med" len="med"/>
                      <a:tailEnd type="none" w="med" len="med"/>
                    </a:lnR>
                    <a:lnT w="6350" cap="flat" cmpd="sng" algn="ctr">
                      <a:solidFill>
                        <a:srgbClr val="DCDCDC"/>
                      </a:solidFill>
                      <a:prstDash val="solid"/>
                      <a:round/>
                      <a:headEnd type="none" w="med" len="med"/>
                      <a:tailEnd type="none" w="med" len="med"/>
                    </a:lnT>
                    <a:lnB w="6350" cap="flat" cmpd="sng" algn="ctr">
                      <a:solidFill>
                        <a:srgbClr val="DCDCDC"/>
                      </a:solidFill>
                      <a:prstDash val="solid"/>
                      <a:round/>
                      <a:headEnd type="none" w="med" len="med"/>
                      <a:tailEnd type="none" w="med" len="med"/>
                    </a:lnB>
                  </a:tcPr>
                </a:tc>
                <a:extLst>
                  <a:ext uri="{0D108BD9-81ED-4DB2-BD59-A6C34878D82A}">
                    <a16:rowId xmlns:a16="http://schemas.microsoft.com/office/drawing/2014/main" val="10002"/>
                  </a:ext>
                </a:extLst>
              </a:tr>
              <a:tr h="457200">
                <a:tc>
                  <a:txBody>
                    <a:bodyPr/>
                    <a:lstStyle/>
                    <a:p>
                      <a:pPr marL="0" indent="0" algn="l">
                        <a:buNone/>
                      </a:pPr>
                      <a:r>
                        <a:rPr lang="en-US" sz="1000" dirty="0">
                          <a:solidFill>
                            <a:srgbClr val="000000"/>
                          </a:solidFill>
                          <a:latin typeface="Calibri" pitchFamily="34" charset="0"/>
                          <a:ea typeface="Calibri" pitchFamily="34" charset="-122"/>
                          <a:cs typeface="Calibri" pitchFamily="34" charset="-120"/>
                        </a:rPr>
                        <a:t>Community</a:t>
                      </a:r>
                      <a:endParaRPr lang="en-US" sz="1000" dirty="0">
                        <a:latin typeface="Calibri" charset="0"/>
                        <a:ea typeface="Calibri" charset="0"/>
                        <a:cs typeface="Calibri" charset="0"/>
                      </a:endParaRPr>
                    </a:p>
                  </a:txBody>
                  <a:tcPr anchor="ctr">
                    <a:lnL w="6350" cap="flat" cmpd="sng" algn="ctr">
                      <a:solidFill>
                        <a:srgbClr val="DCDCDC"/>
                      </a:solidFill>
                      <a:prstDash val="solid"/>
                      <a:round/>
                      <a:headEnd type="none" w="med" len="med"/>
                      <a:tailEnd type="none" w="med" len="med"/>
                    </a:lnL>
                    <a:lnR w="6350" cap="flat" cmpd="sng" algn="ctr">
                      <a:solidFill>
                        <a:srgbClr val="DCDCDC"/>
                      </a:solidFill>
                      <a:prstDash val="solid"/>
                      <a:round/>
                      <a:headEnd type="none" w="med" len="med"/>
                      <a:tailEnd type="none" w="med" len="med"/>
                    </a:lnR>
                    <a:lnT w="6350" cap="flat" cmpd="sng" algn="ctr">
                      <a:solidFill>
                        <a:srgbClr val="DCDCDC"/>
                      </a:solidFill>
                      <a:prstDash val="solid"/>
                      <a:round/>
                      <a:headEnd type="none" w="med" len="med"/>
                      <a:tailEnd type="none" w="med" len="med"/>
                    </a:lnT>
                    <a:lnB w="6350" cap="flat" cmpd="sng" algn="ctr">
                      <a:solidFill>
                        <a:srgbClr val="DCDCDC"/>
                      </a:solidFill>
                      <a:prstDash val="solid"/>
                      <a:round/>
                      <a:headEnd type="none" w="med" len="med"/>
                      <a:tailEnd type="none" w="med" len="med"/>
                    </a:lnB>
                  </a:tcPr>
                </a:tc>
                <a:tc>
                  <a:txBody>
                    <a:bodyPr/>
                    <a:lstStyle/>
                    <a:p>
                      <a:pPr marL="0" indent="0" algn="l">
                        <a:buNone/>
                      </a:pPr>
                      <a:r>
                        <a:rPr lang="en-US" sz="1000" dirty="0">
                          <a:solidFill>
                            <a:srgbClr val="000000"/>
                          </a:solidFill>
                          <a:latin typeface="Calibri" pitchFamily="34" charset="0"/>
                          <a:ea typeface="Calibri" pitchFamily="34" charset="-122"/>
                          <a:cs typeface="Calibri" pitchFamily="34" charset="-120"/>
                        </a:rPr>
                        <a:t>A health centre and housing they actually need</a:t>
                      </a:r>
                      <a:endParaRPr lang="en-US" sz="1000" dirty="0">
                        <a:latin typeface="Calibri" charset="0"/>
                        <a:ea typeface="Calibri" charset="0"/>
                        <a:cs typeface="Calibri" charset="0"/>
                      </a:endParaRPr>
                    </a:p>
                  </a:txBody>
                  <a:tcPr anchor="ctr">
                    <a:lnL w="6350" cap="flat" cmpd="sng" algn="ctr">
                      <a:solidFill>
                        <a:srgbClr val="DCDCDC"/>
                      </a:solidFill>
                      <a:prstDash val="solid"/>
                      <a:round/>
                      <a:headEnd type="none" w="med" len="med"/>
                      <a:tailEnd type="none" w="med" len="med"/>
                    </a:lnL>
                    <a:lnR w="6350" cap="flat" cmpd="sng" algn="ctr">
                      <a:solidFill>
                        <a:srgbClr val="DCDCDC"/>
                      </a:solidFill>
                      <a:prstDash val="solid"/>
                      <a:round/>
                      <a:headEnd type="none" w="med" len="med"/>
                      <a:tailEnd type="none" w="med" len="med"/>
                    </a:lnR>
                    <a:lnT w="6350" cap="flat" cmpd="sng" algn="ctr">
                      <a:solidFill>
                        <a:srgbClr val="DCDCDC"/>
                      </a:solidFill>
                      <a:prstDash val="solid"/>
                      <a:round/>
                      <a:headEnd type="none" w="med" len="med"/>
                      <a:tailEnd type="none" w="med" len="med"/>
                    </a:lnT>
                    <a:lnB w="6350" cap="flat" cmpd="sng" algn="ctr">
                      <a:solidFill>
                        <a:srgbClr val="DCDCDC"/>
                      </a:solidFill>
                      <a:prstDash val="solid"/>
                      <a:round/>
                      <a:headEnd type="none" w="med" len="med"/>
                      <a:tailEnd type="none" w="med" len="med"/>
                    </a:lnB>
                  </a:tcPr>
                </a:tc>
                <a:tc>
                  <a:txBody>
                    <a:bodyPr/>
                    <a:lstStyle/>
                    <a:p>
                      <a:pPr marL="0" indent="0" algn="l">
                        <a:buNone/>
                      </a:pPr>
                      <a:r>
                        <a:rPr lang="en-US" sz="1000" dirty="0">
                          <a:solidFill>
                            <a:srgbClr val="000000"/>
                          </a:solidFill>
                          <a:latin typeface="Calibri" pitchFamily="34" charset="0"/>
                          <a:ea typeface="Calibri" pitchFamily="34" charset="-122"/>
                          <a:cs typeface="Calibri" pitchFamily="34" charset="-120"/>
                        </a:rPr>
                        <a:t>Fair procurement gives them the best contractor, not the one with the best connection</a:t>
                      </a:r>
                      <a:endParaRPr lang="en-US" sz="1000" dirty="0">
                        <a:latin typeface="Calibri" charset="0"/>
                        <a:ea typeface="Calibri" charset="0"/>
                        <a:cs typeface="Calibri" charset="0"/>
                      </a:endParaRPr>
                    </a:p>
                  </a:txBody>
                  <a:tcPr anchor="ctr">
                    <a:lnL w="6350" cap="flat" cmpd="sng" algn="ctr">
                      <a:solidFill>
                        <a:srgbClr val="DCDCDC"/>
                      </a:solidFill>
                      <a:prstDash val="solid"/>
                      <a:round/>
                      <a:headEnd type="none" w="med" len="med"/>
                      <a:tailEnd type="none" w="med" len="med"/>
                    </a:lnL>
                    <a:lnR w="6350" cap="flat" cmpd="sng" algn="ctr">
                      <a:solidFill>
                        <a:srgbClr val="DCDCDC"/>
                      </a:solidFill>
                      <a:prstDash val="solid"/>
                      <a:round/>
                      <a:headEnd type="none" w="med" len="med"/>
                      <a:tailEnd type="none" w="med" len="med"/>
                    </a:lnR>
                    <a:lnT w="6350" cap="flat" cmpd="sng" algn="ctr">
                      <a:solidFill>
                        <a:srgbClr val="DCDCDC"/>
                      </a:solidFill>
                      <a:prstDash val="solid"/>
                      <a:round/>
                      <a:headEnd type="none" w="med" len="med"/>
                      <a:tailEnd type="none" w="med" len="med"/>
                    </a:lnT>
                    <a:lnB w="6350" cap="flat" cmpd="sng" algn="ctr">
                      <a:solidFill>
                        <a:srgbClr val="DCDCDC"/>
                      </a:solidFill>
                      <a:prstDash val="solid"/>
                      <a:round/>
                      <a:headEnd type="none" w="med" len="med"/>
                      <a:tailEnd type="none" w="med" len="med"/>
                    </a:lnB>
                  </a:tcPr>
                </a:tc>
                <a:extLst>
                  <a:ext uri="{0D108BD9-81ED-4DB2-BD59-A6C34878D82A}">
                    <a16:rowId xmlns:a16="http://schemas.microsoft.com/office/drawing/2014/main" val="10003"/>
                  </a:ext>
                </a:extLst>
              </a:tr>
              <a:tr h="457200">
                <a:tc>
                  <a:txBody>
                    <a:bodyPr/>
                    <a:lstStyle/>
                    <a:p>
                      <a:pPr marL="0" indent="0" algn="l">
                        <a:buNone/>
                      </a:pPr>
                      <a:r>
                        <a:rPr lang="en-US" sz="1000" dirty="0">
                          <a:solidFill>
                            <a:srgbClr val="000000"/>
                          </a:solidFill>
                          <a:latin typeface="Calibri" pitchFamily="34" charset="0"/>
                          <a:ea typeface="Calibri" pitchFamily="34" charset="-122"/>
                          <a:cs typeface="Calibri" pitchFamily="34" charset="-120"/>
                        </a:rPr>
                        <a:t>Avondale County Council</a:t>
                      </a:r>
                      <a:endParaRPr lang="en-US" sz="1000" dirty="0">
                        <a:latin typeface="Calibri" charset="0"/>
                        <a:ea typeface="Calibri" charset="0"/>
                        <a:cs typeface="Calibri" charset="0"/>
                      </a:endParaRPr>
                    </a:p>
                  </a:txBody>
                  <a:tcPr anchor="ctr">
                    <a:lnL w="6350" cap="flat" cmpd="sng" algn="ctr">
                      <a:solidFill>
                        <a:srgbClr val="DCDCDC"/>
                      </a:solidFill>
                      <a:prstDash val="solid"/>
                      <a:round/>
                      <a:headEnd type="none" w="med" len="med"/>
                      <a:tailEnd type="none" w="med" len="med"/>
                    </a:lnL>
                    <a:lnR w="6350" cap="flat" cmpd="sng" algn="ctr">
                      <a:solidFill>
                        <a:srgbClr val="DCDCDC"/>
                      </a:solidFill>
                      <a:prstDash val="solid"/>
                      <a:round/>
                      <a:headEnd type="none" w="med" len="med"/>
                      <a:tailEnd type="none" w="med" len="med"/>
                    </a:lnR>
                    <a:lnT w="6350" cap="flat" cmpd="sng" algn="ctr">
                      <a:solidFill>
                        <a:srgbClr val="DCDCDC"/>
                      </a:solidFill>
                      <a:prstDash val="solid"/>
                      <a:round/>
                      <a:headEnd type="none" w="med" len="med"/>
                      <a:tailEnd type="none" w="med" len="med"/>
                    </a:lnT>
                    <a:lnB w="6350" cap="flat" cmpd="sng" algn="ctr">
                      <a:solidFill>
                        <a:srgbClr val="DCDCDC"/>
                      </a:solidFill>
                      <a:prstDash val="solid"/>
                      <a:round/>
                      <a:headEnd type="none" w="med" len="med"/>
                      <a:tailEnd type="none" w="med" len="med"/>
                    </a:lnB>
                  </a:tcPr>
                </a:tc>
                <a:tc>
                  <a:txBody>
                    <a:bodyPr/>
                    <a:lstStyle/>
                    <a:p>
                      <a:pPr marL="0" indent="0" algn="l">
                        <a:buNone/>
                      </a:pPr>
                      <a:r>
                        <a:rPr lang="en-US" sz="1000" dirty="0">
                          <a:solidFill>
                            <a:srgbClr val="000000"/>
                          </a:solidFill>
                          <a:latin typeface="Calibri" pitchFamily="34" charset="0"/>
                          <a:ea typeface="Calibri" pitchFamily="34" charset="-122"/>
                          <a:cs typeface="Calibri" pitchFamily="34" charset="-120"/>
                        </a:rPr>
                        <a:t>Procurement integrity</a:t>
                      </a:r>
                      <a:endParaRPr lang="en-US" sz="1000" dirty="0">
                        <a:latin typeface="Calibri" charset="0"/>
                        <a:ea typeface="Calibri" charset="0"/>
                        <a:cs typeface="Calibri" charset="0"/>
                      </a:endParaRPr>
                    </a:p>
                  </a:txBody>
                  <a:tcPr anchor="ctr">
                    <a:lnL w="6350" cap="flat" cmpd="sng" algn="ctr">
                      <a:solidFill>
                        <a:srgbClr val="DCDCDC"/>
                      </a:solidFill>
                      <a:prstDash val="solid"/>
                      <a:round/>
                      <a:headEnd type="none" w="med" len="med"/>
                      <a:tailEnd type="none" w="med" len="med"/>
                    </a:lnL>
                    <a:lnR w="6350" cap="flat" cmpd="sng" algn="ctr">
                      <a:solidFill>
                        <a:srgbClr val="DCDCDC"/>
                      </a:solidFill>
                      <a:prstDash val="solid"/>
                      <a:round/>
                      <a:headEnd type="none" w="med" len="med"/>
                      <a:tailEnd type="none" w="med" len="med"/>
                    </a:lnR>
                    <a:lnT w="6350" cap="flat" cmpd="sng" algn="ctr">
                      <a:solidFill>
                        <a:srgbClr val="DCDCDC"/>
                      </a:solidFill>
                      <a:prstDash val="solid"/>
                      <a:round/>
                      <a:headEnd type="none" w="med" len="med"/>
                      <a:tailEnd type="none" w="med" len="med"/>
                    </a:lnT>
                    <a:lnB w="6350" cap="flat" cmpd="sng" algn="ctr">
                      <a:solidFill>
                        <a:srgbClr val="DCDCDC"/>
                      </a:solidFill>
                      <a:prstDash val="solid"/>
                      <a:round/>
                      <a:headEnd type="none" w="med" len="med"/>
                      <a:tailEnd type="none" w="med" len="med"/>
                    </a:lnB>
                  </a:tcPr>
                </a:tc>
                <a:tc>
                  <a:txBody>
                    <a:bodyPr/>
                    <a:lstStyle/>
                    <a:p>
                      <a:pPr marL="0" indent="0" algn="l">
                        <a:buNone/>
                      </a:pPr>
                      <a:r>
                        <a:rPr lang="en-US" sz="1000" dirty="0">
                          <a:solidFill>
                            <a:srgbClr val="000000"/>
                          </a:solidFill>
                          <a:latin typeface="Calibri" pitchFamily="34" charset="0"/>
                          <a:ea typeface="Calibri" pitchFamily="34" charset="-122"/>
                          <a:cs typeface="Calibri" pitchFamily="34" charset="-120"/>
                        </a:rPr>
                        <a:t>Early disclosure limits their own legal exposure too</a:t>
                      </a:r>
                      <a:endParaRPr lang="en-US" sz="1000" dirty="0">
                        <a:latin typeface="Calibri" charset="0"/>
                        <a:ea typeface="Calibri" charset="0"/>
                        <a:cs typeface="Calibri" charset="0"/>
                      </a:endParaRPr>
                    </a:p>
                  </a:txBody>
                  <a:tcPr anchor="ctr">
                    <a:lnL w="6350" cap="flat" cmpd="sng" algn="ctr">
                      <a:solidFill>
                        <a:srgbClr val="DCDCDC"/>
                      </a:solidFill>
                      <a:prstDash val="solid"/>
                      <a:round/>
                      <a:headEnd type="none" w="med" len="med"/>
                      <a:tailEnd type="none" w="med" len="med"/>
                    </a:lnL>
                    <a:lnR w="6350" cap="flat" cmpd="sng" algn="ctr">
                      <a:solidFill>
                        <a:srgbClr val="DCDCDC"/>
                      </a:solidFill>
                      <a:prstDash val="solid"/>
                      <a:round/>
                      <a:headEnd type="none" w="med" len="med"/>
                      <a:tailEnd type="none" w="med" len="med"/>
                    </a:lnR>
                    <a:lnT w="6350" cap="flat" cmpd="sng" algn="ctr">
                      <a:solidFill>
                        <a:srgbClr val="DCDCDC"/>
                      </a:solidFill>
                      <a:prstDash val="solid"/>
                      <a:round/>
                      <a:headEnd type="none" w="med" len="med"/>
                      <a:tailEnd type="none" w="med" len="med"/>
                    </a:lnT>
                    <a:lnB w="6350" cap="flat" cmpd="sng" algn="ctr">
                      <a:solidFill>
                        <a:srgbClr val="DCDCDC"/>
                      </a:solidFill>
                      <a:prstDash val="solid"/>
                      <a:round/>
                      <a:headEnd type="none" w="med" len="med"/>
                      <a:tailEnd type="none" w="med" len="med"/>
                    </a:lnB>
                  </a:tcPr>
                </a:tc>
                <a:extLst>
                  <a:ext uri="{0D108BD9-81ED-4DB2-BD59-A6C34878D82A}">
                    <a16:rowId xmlns:a16="http://schemas.microsoft.com/office/drawing/2014/main" val="10004"/>
                  </a:ext>
                </a:extLst>
              </a:tr>
              <a:tr h="457200">
                <a:tc>
                  <a:txBody>
                    <a:bodyPr/>
                    <a:lstStyle/>
                    <a:p>
                      <a:pPr marL="0" indent="0" algn="l">
                        <a:buNone/>
                      </a:pPr>
                      <a:r>
                        <a:rPr lang="en-US" sz="1000" dirty="0">
                          <a:solidFill>
                            <a:srgbClr val="000000"/>
                          </a:solidFill>
                          <a:latin typeface="Calibri" pitchFamily="34" charset="0"/>
                          <a:ea typeface="Calibri" pitchFamily="34" charset="-122"/>
                          <a:cs typeface="Calibri" pitchFamily="34" charset="-120"/>
                        </a:rPr>
                        <a:t>Industry and CIOB</a:t>
                      </a:r>
                      <a:endParaRPr lang="en-US" sz="1000" dirty="0">
                        <a:latin typeface="Calibri" charset="0"/>
                        <a:ea typeface="Calibri" charset="0"/>
                        <a:cs typeface="Calibri" charset="0"/>
                      </a:endParaRPr>
                    </a:p>
                  </a:txBody>
                  <a:tcPr anchor="ctr">
                    <a:lnL w="6350" cap="flat" cmpd="sng" algn="ctr">
                      <a:solidFill>
                        <a:srgbClr val="DCDCDC"/>
                      </a:solidFill>
                      <a:prstDash val="solid"/>
                      <a:round/>
                      <a:headEnd type="none" w="med" len="med"/>
                      <a:tailEnd type="none" w="med" len="med"/>
                    </a:lnL>
                    <a:lnR w="6350" cap="flat" cmpd="sng" algn="ctr">
                      <a:solidFill>
                        <a:srgbClr val="DCDCDC"/>
                      </a:solidFill>
                      <a:prstDash val="solid"/>
                      <a:round/>
                      <a:headEnd type="none" w="med" len="med"/>
                      <a:tailEnd type="none" w="med" len="med"/>
                    </a:lnR>
                    <a:lnT w="6350" cap="flat" cmpd="sng" algn="ctr">
                      <a:solidFill>
                        <a:srgbClr val="DCDCDC"/>
                      </a:solidFill>
                      <a:prstDash val="solid"/>
                      <a:round/>
                      <a:headEnd type="none" w="med" len="med"/>
                      <a:tailEnd type="none" w="med" len="med"/>
                    </a:lnT>
                    <a:lnB w="6350" cap="flat" cmpd="sng" algn="ctr">
                      <a:solidFill>
                        <a:srgbClr val="DCDCDC"/>
                      </a:solidFill>
                      <a:prstDash val="solid"/>
                      <a:round/>
                      <a:headEnd type="none" w="med" len="med"/>
                      <a:tailEnd type="none" w="med" len="med"/>
                    </a:lnB>
                  </a:tcPr>
                </a:tc>
                <a:tc>
                  <a:txBody>
                    <a:bodyPr/>
                    <a:lstStyle/>
                    <a:p>
                      <a:pPr marL="0" indent="0" algn="l">
                        <a:buNone/>
                      </a:pPr>
                      <a:r>
                        <a:rPr lang="en-US" sz="1000" dirty="0">
                          <a:solidFill>
                            <a:srgbClr val="000000"/>
                          </a:solidFill>
                          <a:latin typeface="Calibri" pitchFamily="34" charset="0"/>
                          <a:ea typeface="Calibri" pitchFamily="34" charset="-122"/>
                          <a:cs typeface="Calibri" pitchFamily="34" charset="-120"/>
                        </a:rPr>
                        <a:t>Professional standards</a:t>
                      </a:r>
                      <a:endParaRPr lang="en-US" sz="1000" dirty="0">
                        <a:latin typeface="Calibri" charset="0"/>
                        <a:ea typeface="Calibri" charset="0"/>
                        <a:cs typeface="Calibri" charset="0"/>
                      </a:endParaRPr>
                    </a:p>
                  </a:txBody>
                  <a:tcPr anchor="ctr">
                    <a:lnL w="6350" cap="flat" cmpd="sng" algn="ctr">
                      <a:solidFill>
                        <a:srgbClr val="DCDCDC"/>
                      </a:solidFill>
                      <a:prstDash val="solid"/>
                      <a:round/>
                      <a:headEnd type="none" w="med" len="med"/>
                      <a:tailEnd type="none" w="med" len="med"/>
                    </a:lnL>
                    <a:lnR w="6350" cap="flat" cmpd="sng" algn="ctr">
                      <a:solidFill>
                        <a:srgbClr val="DCDCDC"/>
                      </a:solidFill>
                      <a:prstDash val="solid"/>
                      <a:round/>
                      <a:headEnd type="none" w="med" len="med"/>
                      <a:tailEnd type="none" w="med" len="med"/>
                    </a:lnR>
                    <a:lnT w="6350" cap="flat" cmpd="sng" algn="ctr">
                      <a:solidFill>
                        <a:srgbClr val="DCDCDC"/>
                      </a:solidFill>
                      <a:prstDash val="solid"/>
                      <a:round/>
                      <a:headEnd type="none" w="med" len="med"/>
                      <a:tailEnd type="none" w="med" len="med"/>
                    </a:lnT>
                    <a:lnB w="6350" cap="flat" cmpd="sng" algn="ctr">
                      <a:solidFill>
                        <a:srgbClr val="DCDCDC"/>
                      </a:solidFill>
                      <a:prstDash val="solid"/>
                      <a:round/>
                      <a:headEnd type="none" w="med" len="med"/>
                      <a:tailEnd type="none" w="med" len="med"/>
                    </a:lnB>
                  </a:tcPr>
                </a:tc>
                <a:tc>
                  <a:txBody>
                    <a:bodyPr/>
                    <a:lstStyle/>
                    <a:p>
                      <a:pPr marL="0" indent="0" algn="l">
                        <a:buNone/>
                      </a:pPr>
                      <a:r>
                        <a:rPr lang="en-US" sz="1000" dirty="0">
                          <a:solidFill>
                            <a:srgbClr val="000000"/>
                          </a:solidFill>
                          <a:latin typeface="Calibri" pitchFamily="34" charset="0"/>
                          <a:ea typeface="Calibri" pitchFamily="34" charset="-122"/>
                          <a:cs typeface="Calibri" pitchFamily="34" charset="-120"/>
                        </a:rPr>
                        <a:t>Construction has taken enough reputational hits on procurement.</a:t>
                      </a:r>
                      <a:endParaRPr lang="en-US" sz="1000" dirty="0">
                        <a:latin typeface="Calibri" charset="0"/>
                        <a:ea typeface="Calibri" charset="0"/>
                        <a:cs typeface="Calibri" charset="0"/>
                      </a:endParaRPr>
                    </a:p>
                  </a:txBody>
                  <a:tcPr anchor="ctr">
                    <a:lnL w="6350" cap="flat" cmpd="sng" algn="ctr">
                      <a:solidFill>
                        <a:srgbClr val="DCDCDC"/>
                      </a:solidFill>
                      <a:prstDash val="solid"/>
                      <a:round/>
                      <a:headEnd type="none" w="med" len="med"/>
                      <a:tailEnd type="none" w="med" len="med"/>
                    </a:lnL>
                    <a:lnR w="6350" cap="flat" cmpd="sng" algn="ctr">
                      <a:solidFill>
                        <a:srgbClr val="DCDCDC"/>
                      </a:solidFill>
                      <a:prstDash val="solid"/>
                      <a:round/>
                      <a:headEnd type="none" w="med" len="med"/>
                      <a:tailEnd type="none" w="med" len="med"/>
                    </a:lnR>
                    <a:lnT w="6350" cap="flat" cmpd="sng" algn="ctr">
                      <a:solidFill>
                        <a:srgbClr val="DCDCDC"/>
                      </a:solidFill>
                      <a:prstDash val="solid"/>
                      <a:round/>
                      <a:headEnd type="none" w="med" len="med"/>
                      <a:tailEnd type="none" w="med" len="med"/>
                    </a:lnT>
                    <a:lnB w="6350" cap="flat" cmpd="sng" algn="ctr">
                      <a:solidFill>
                        <a:srgbClr val="DCDCDC"/>
                      </a:solidFill>
                      <a:prstDash val="solid"/>
                      <a:round/>
                      <a:headEnd type="none" w="med" len="med"/>
                      <a:tailEnd type="none" w="med" len="med"/>
                    </a:lnB>
                  </a:tcPr>
                </a:tc>
                <a:extLst>
                  <a:ext uri="{0D108BD9-81ED-4DB2-BD59-A6C34878D82A}">
                    <a16:rowId xmlns:a16="http://schemas.microsoft.com/office/drawing/2014/main" val="10005"/>
                  </a:ext>
                </a:extLst>
              </a:tr>
              <a:tr h="457200">
                <a:tc>
                  <a:txBody>
                    <a:bodyPr/>
                    <a:lstStyle/>
                    <a:p>
                      <a:pPr marL="0" indent="0" algn="l">
                        <a:buNone/>
                      </a:pPr>
                      <a:r>
                        <a:rPr lang="en-US" sz="1000" dirty="0">
                          <a:solidFill>
                            <a:srgbClr val="000000"/>
                          </a:solidFill>
                          <a:latin typeface="Calibri" pitchFamily="34" charset="0"/>
                          <a:ea typeface="Calibri" pitchFamily="34" charset="-122"/>
                          <a:cs typeface="Calibri" pitchFamily="34" charset="-120"/>
                        </a:rPr>
                        <a:t>Richard Hale</a:t>
                      </a:r>
                      <a:endParaRPr lang="en-US" sz="1000" dirty="0">
                        <a:latin typeface="Calibri" charset="0"/>
                        <a:ea typeface="Calibri" charset="0"/>
                        <a:cs typeface="Calibri" charset="0"/>
                      </a:endParaRPr>
                    </a:p>
                  </a:txBody>
                  <a:tcPr anchor="ctr">
                    <a:lnL w="6350" cap="flat" cmpd="sng" algn="ctr">
                      <a:solidFill>
                        <a:srgbClr val="DCDCDC"/>
                      </a:solidFill>
                      <a:prstDash val="solid"/>
                      <a:round/>
                      <a:headEnd type="none" w="med" len="med"/>
                      <a:tailEnd type="none" w="med" len="med"/>
                    </a:lnL>
                    <a:lnR w="6350" cap="flat" cmpd="sng" algn="ctr">
                      <a:solidFill>
                        <a:srgbClr val="DCDCDC"/>
                      </a:solidFill>
                      <a:prstDash val="solid"/>
                      <a:round/>
                      <a:headEnd type="none" w="med" len="med"/>
                      <a:tailEnd type="none" w="med" len="med"/>
                    </a:lnR>
                    <a:lnT w="6350" cap="flat" cmpd="sng" algn="ctr">
                      <a:solidFill>
                        <a:srgbClr val="DCDCDC"/>
                      </a:solidFill>
                      <a:prstDash val="solid"/>
                      <a:round/>
                      <a:headEnd type="none" w="med" len="med"/>
                      <a:tailEnd type="none" w="med" len="med"/>
                    </a:lnT>
                    <a:lnB w="6350" cap="flat" cmpd="sng" algn="ctr">
                      <a:solidFill>
                        <a:srgbClr val="DCDCDC"/>
                      </a:solidFill>
                      <a:prstDash val="solid"/>
                      <a:round/>
                      <a:headEnd type="none" w="med" len="med"/>
                      <a:tailEnd type="none" w="med" len="med"/>
                    </a:lnB>
                  </a:tcPr>
                </a:tc>
                <a:tc>
                  <a:txBody>
                    <a:bodyPr/>
                    <a:lstStyle/>
                    <a:p>
                      <a:pPr marL="0" indent="0" algn="l">
                        <a:buNone/>
                      </a:pPr>
                      <a:r>
                        <a:rPr lang="en-US" sz="1000" dirty="0">
                          <a:solidFill>
                            <a:srgbClr val="000000"/>
                          </a:solidFill>
                          <a:latin typeface="Calibri" pitchFamily="34" charset="0"/>
                          <a:ea typeface="Calibri" pitchFamily="34" charset="-122"/>
                          <a:cs typeface="Calibri" pitchFamily="34" charset="-120"/>
                        </a:rPr>
                        <a:t>Friendship, personal interest</a:t>
                      </a:r>
                      <a:endParaRPr lang="en-US" sz="1000" dirty="0">
                        <a:latin typeface="Calibri" charset="0"/>
                        <a:ea typeface="Calibri" charset="0"/>
                        <a:cs typeface="Calibri" charset="0"/>
                      </a:endParaRPr>
                    </a:p>
                  </a:txBody>
                  <a:tcPr anchor="ctr">
                    <a:lnL w="6350" cap="flat" cmpd="sng" algn="ctr">
                      <a:solidFill>
                        <a:srgbClr val="DCDCDC"/>
                      </a:solidFill>
                      <a:prstDash val="solid"/>
                      <a:round/>
                      <a:headEnd type="none" w="med" len="med"/>
                      <a:tailEnd type="none" w="med" len="med"/>
                    </a:lnL>
                    <a:lnR w="6350" cap="flat" cmpd="sng" algn="ctr">
                      <a:solidFill>
                        <a:srgbClr val="DCDCDC"/>
                      </a:solidFill>
                      <a:prstDash val="solid"/>
                      <a:round/>
                      <a:headEnd type="none" w="med" len="med"/>
                      <a:tailEnd type="none" w="med" len="med"/>
                    </a:lnR>
                    <a:lnT w="6350" cap="flat" cmpd="sng" algn="ctr">
                      <a:solidFill>
                        <a:srgbClr val="DCDCDC"/>
                      </a:solidFill>
                      <a:prstDash val="solid"/>
                      <a:round/>
                      <a:headEnd type="none" w="med" len="med"/>
                      <a:tailEnd type="none" w="med" len="med"/>
                    </a:lnT>
                    <a:lnB w="6350" cap="flat" cmpd="sng" algn="ctr">
                      <a:solidFill>
                        <a:srgbClr val="DCDCDC"/>
                      </a:solidFill>
                      <a:prstDash val="solid"/>
                      <a:round/>
                      <a:headEnd type="none" w="med" len="med"/>
                      <a:tailEnd type="none" w="med" len="med"/>
                    </a:lnB>
                  </a:tcPr>
                </a:tc>
                <a:tc>
                  <a:txBody>
                    <a:bodyPr/>
                    <a:lstStyle/>
                    <a:p>
                      <a:pPr marL="0" indent="0" algn="l">
                        <a:buNone/>
                      </a:pPr>
                      <a:r>
                        <a:rPr lang="en-US" sz="1000" dirty="0">
                          <a:solidFill>
                            <a:srgbClr val="000000"/>
                          </a:solidFill>
                          <a:latin typeface="Calibri" pitchFamily="34" charset="0"/>
                          <a:ea typeface="Calibri" pitchFamily="34" charset="-122"/>
                          <a:cs typeface="Calibri" pitchFamily="34" charset="-120"/>
                        </a:rPr>
                        <a:t>Staying quiet doesn't protect him. If this surfaces another way, Greenfield's silence is a problem. Early intervention may limit the damage to him.</a:t>
                      </a:r>
                      <a:endParaRPr lang="en-US" sz="1000" dirty="0">
                        <a:latin typeface="Calibri" charset="0"/>
                        <a:ea typeface="Calibri" charset="0"/>
                        <a:cs typeface="Calibri" charset="0"/>
                      </a:endParaRPr>
                    </a:p>
                  </a:txBody>
                  <a:tcPr anchor="ctr">
                    <a:lnL w="6350" cap="flat" cmpd="sng" algn="ctr">
                      <a:solidFill>
                        <a:srgbClr val="DCDCDC"/>
                      </a:solidFill>
                      <a:prstDash val="solid"/>
                      <a:round/>
                      <a:headEnd type="none" w="med" len="med"/>
                      <a:tailEnd type="none" w="med" len="med"/>
                    </a:lnL>
                    <a:lnR w="6350" cap="flat" cmpd="sng" algn="ctr">
                      <a:solidFill>
                        <a:srgbClr val="DCDCDC"/>
                      </a:solidFill>
                      <a:prstDash val="solid"/>
                      <a:round/>
                      <a:headEnd type="none" w="med" len="med"/>
                      <a:tailEnd type="none" w="med" len="med"/>
                    </a:lnR>
                    <a:lnT w="6350" cap="flat" cmpd="sng" algn="ctr">
                      <a:solidFill>
                        <a:srgbClr val="DCDCDC"/>
                      </a:solidFill>
                      <a:prstDash val="solid"/>
                      <a:round/>
                      <a:headEnd type="none" w="med" len="med"/>
                      <a:tailEnd type="none" w="med" len="med"/>
                    </a:lnT>
                    <a:lnB w="6350" cap="flat" cmpd="sng" algn="ctr">
                      <a:solidFill>
                        <a:srgbClr val="DCDCDC"/>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F1319"/>
        </a:solidFill>
        <a:effectLst/>
      </p:bgPr>
    </p:bg>
    <p:spTree>
      <p:nvGrpSpPr>
        <p:cNvPr id="1" name=""/>
        <p:cNvGrpSpPr/>
        <p:nvPr/>
      </p:nvGrpSpPr>
      <p:grpSpPr>
        <a:xfrm>
          <a:off x="0" y="0"/>
          <a:ext cx="0" cy="0"/>
          <a:chOff x="0" y="0"/>
          <a:chExt cx="0" cy="0"/>
        </a:xfrm>
      </p:grpSpPr>
      <p:sp>
        <p:nvSpPr>
          <p:cNvPr id="2" name="Text 0"/>
          <p:cNvSpPr/>
          <p:nvPr/>
        </p:nvSpPr>
        <p:spPr>
          <a:xfrm>
            <a:off x="502920" y="182880"/>
            <a:ext cx="8046720" cy="256032"/>
          </a:xfrm>
          <a:prstGeom prst="rect">
            <a:avLst/>
          </a:prstGeom>
          <a:noFill/>
          <a:ln/>
        </p:spPr>
        <p:txBody>
          <a:bodyPr wrap="square" lIns="0" tIns="0" rIns="0" bIns="0" rtlCol="0" anchor="ctr"/>
          <a:lstStyle/>
          <a:p>
            <a:pPr marL="0" indent="0" algn="l">
              <a:buNone/>
            </a:pPr>
            <a:r>
              <a:rPr lang="en-US" sz="1000" kern="0" spc="200" dirty="0">
                <a:solidFill>
                  <a:srgbClr val="485568"/>
                </a:solidFill>
                <a:latin typeface="Calibri" pitchFamily="34" charset="0"/>
                <a:ea typeface="Calibri" pitchFamily="34" charset="-122"/>
                <a:cs typeface="Calibri" pitchFamily="34" charset="-120"/>
              </a:rPr>
              <a:t>Conclusion</a:t>
            </a:r>
            <a:endParaRPr lang="en-US" sz="1000" dirty="0"/>
          </a:p>
        </p:txBody>
      </p:sp>
      <p:sp>
        <p:nvSpPr>
          <p:cNvPr id="3" name="Text 1"/>
          <p:cNvSpPr/>
          <p:nvPr/>
        </p:nvSpPr>
        <p:spPr>
          <a:xfrm>
            <a:off x="502920" y="502920"/>
            <a:ext cx="8229600" cy="1417320"/>
          </a:xfrm>
          <a:prstGeom prst="rect">
            <a:avLst/>
          </a:prstGeom>
          <a:noFill/>
          <a:ln/>
        </p:spPr>
        <p:txBody>
          <a:bodyPr wrap="square" lIns="0" tIns="0" rIns="0" bIns="0" rtlCol="0" anchor="t"/>
          <a:lstStyle/>
          <a:p>
            <a:pPr marL="0" indent="0" algn="l">
              <a:buNone/>
            </a:pPr>
            <a:r>
              <a:rPr lang="en-US" sz="3600" b="1" dirty="0">
                <a:solidFill>
                  <a:srgbClr val="FFFFFF"/>
                </a:solidFill>
                <a:latin typeface="+mj-lt"/>
                <a:ea typeface="Georgia" pitchFamily="34" charset="-122"/>
                <a:cs typeface="Georgia" pitchFamily="34" charset="-120"/>
              </a:rPr>
              <a:t>Your next contract depends on</a:t>
            </a:r>
            <a:endParaRPr lang="en-US" sz="3600" dirty="0">
              <a:latin typeface="+mj-lt"/>
            </a:endParaRPr>
          </a:p>
          <a:p>
            <a:pPr marL="0" indent="0" algn="l">
              <a:buNone/>
            </a:pPr>
            <a:r>
              <a:rPr lang="en-US" sz="3600" b="1" dirty="0">
                <a:solidFill>
                  <a:srgbClr val="FFFFFF"/>
                </a:solidFill>
                <a:latin typeface="+mj-lt"/>
                <a:ea typeface="Georgia" pitchFamily="34" charset="-122"/>
                <a:cs typeface="Georgia" pitchFamily="34" charset="-120"/>
              </a:rPr>
              <a:t>how you handle this one.</a:t>
            </a:r>
            <a:endParaRPr lang="en-US" sz="3600" dirty="0">
              <a:latin typeface="+mj-lt"/>
            </a:endParaRPr>
          </a:p>
        </p:txBody>
      </p:sp>
      <p:sp>
        <p:nvSpPr>
          <p:cNvPr id="4" name="Text 2"/>
          <p:cNvSpPr/>
          <p:nvPr/>
        </p:nvSpPr>
        <p:spPr>
          <a:xfrm>
            <a:off x="502920" y="2103120"/>
            <a:ext cx="8046720" cy="2743200"/>
          </a:xfrm>
          <a:prstGeom prst="rect">
            <a:avLst/>
          </a:prstGeom>
          <a:noFill/>
          <a:ln/>
        </p:spPr>
        <p:txBody>
          <a:bodyPr wrap="square" lIns="0" tIns="0" rIns="0" bIns="0" rtlCol="0" anchor="t"/>
          <a:lstStyle/>
          <a:p>
            <a:pPr marL="0" indent="0" algn="l">
              <a:lnSpc>
                <a:spcPct val="125000"/>
              </a:lnSpc>
              <a:buNone/>
            </a:pPr>
            <a:r>
              <a:rPr lang="en-US" sz="1350" dirty="0">
                <a:solidFill>
                  <a:srgbClr val="C8CDD4"/>
                </a:solidFill>
                <a:latin typeface="Calibri" pitchFamily="34" charset="0"/>
                <a:ea typeface="Calibri" pitchFamily="34" charset="-122"/>
                <a:cs typeface="Calibri" pitchFamily="34" charset="-120"/>
              </a:rPr>
              <a:t>Both frameworks lead to the same answer.</a:t>
            </a:r>
            <a:endParaRPr lang="en-US" sz="1350" dirty="0"/>
          </a:p>
          <a:p>
            <a:pPr marL="0" indent="0" algn="l">
              <a:lnSpc>
                <a:spcPct val="125000"/>
              </a:lnSpc>
              <a:buNone/>
            </a:pPr>
            <a:r>
              <a:rPr lang="en-US" sz="600" dirty="0">
                <a:solidFill>
                  <a:srgbClr val="C8CDD4"/>
                </a:solidFill>
                <a:latin typeface="Calibri" pitchFamily="34" charset="0"/>
                <a:ea typeface="Calibri" pitchFamily="34" charset="-122"/>
                <a:cs typeface="Calibri" pitchFamily="34" charset="-120"/>
              </a:rPr>
              <a:t> </a:t>
            </a:r>
            <a:endParaRPr lang="en-US" sz="1350" dirty="0"/>
          </a:p>
          <a:p>
            <a:pPr marL="0" indent="0" algn="l">
              <a:lnSpc>
                <a:spcPct val="125000"/>
              </a:lnSpc>
              <a:buNone/>
            </a:pPr>
            <a:r>
              <a:rPr lang="en-US" sz="1350" dirty="0">
                <a:solidFill>
                  <a:srgbClr val="C8CDD4"/>
                </a:solidFill>
                <a:latin typeface="Calibri" pitchFamily="34" charset="0"/>
                <a:ea typeface="Calibri" pitchFamily="34" charset="-122"/>
                <a:cs typeface="Calibri" pitchFamily="34" charset="-120"/>
              </a:rPr>
              <a:t>The law is clear too. But the ethical case doesn't depend on it.</a:t>
            </a:r>
            <a:endParaRPr lang="en-US" sz="1350" dirty="0"/>
          </a:p>
          <a:p>
            <a:pPr marL="0" indent="0" algn="l">
              <a:lnSpc>
                <a:spcPct val="125000"/>
              </a:lnSpc>
              <a:buNone/>
            </a:pPr>
            <a:r>
              <a:rPr lang="en-US" sz="600" dirty="0">
                <a:solidFill>
                  <a:srgbClr val="C8CDD4"/>
                </a:solidFill>
                <a:latin typeface="Calibri" pitchFamily="34" charset="0"/>
                <a:ea typeface="Calibri" pitchFamily="34" charset="-122"/>
                <a:cs typeface="Calibri" pitchFamily="34" charset="-120"/>
              </a:rPr>
              <a:t> </a:t>
            </a:r>
            <a:endParaRPr lang="en-US" sz="1350" dirty="0"/>
          </a:p>
          <a:p>
            <a:pPr marL="0" indent="0" algn="l">
              <a:lnSpc>
                <a:spcPct val="125000"/>
              </a:lnSpc>
              <a:buNone/>
            </a:pPr>
            <a:r>
              <a:rPr lang="en-US" sz="1350" dirty="0">
                <a:solidFill>
                  <a:srgbClr val="C8CDD4"/>
                </a:solidFill>
                <a:latin typeface="Calibri" pitchFamily="34" charset="0"/>
                <a:ea typeface="Calibri" pitchFamily="34" charset="-122"/>
                <a:cs typeface="Calibri" pitchFamily="34" charset="-120"/>
              </a:rPr>
              <a:t>Greenfield's public sector strategy runs on its reputation. One contract is not worth the thing that gets you contracts.</a:t>
            </a:r>
            <a:endParaRPr lang="en-US" sz="1350" dirty="0"/>
          </a:p>
          <a:p>
            <a:pPr marL="0" indent="0" algn="l">
              <a:lnSpc>
                <a:spcPct val="125000"/>
              </a:lnSpc>
              <a:buNone/>
            </a:pPr>
            <a:r>
              <a:rPr lang="en-US" sz="600" dirty="0">
                <a:solidFill>
                  <a:srgbClr val="C8CDD4"/>
                </a:solidFill>
                <a:latin typeface="Calibri" pitchFamily="34" charset="0"/>
                <a:ea typeface="Calibri" pitchFamily="34" charset="-122"/>
                <a:cs typeface="Calibri" pitchFamily="34" charset="-120"/>
              </a:rPr>
              <a:t> </a:t>
            </a:r>
            <a:endParaRPr lang="en-US" sz="1350" dirty="0"/>
          </a:p>
          <a:p>
            <a:pPr marL="0" indent="0" algn="l">
              <a:lnSpc>
                <a:spcPct val="125000"/>
              </a:lnSpc>
              <a:buNone/>
            </a:pPr>
            <a:r>
              <a:rPr lang="en-US" sz="1350" dirty="0">
                <a:solidFill>
                  <a:srgbClr val="C8CDD4"/>
                </a:solidFill>
                <a:latin typeface="Calibri" pitchFamily="34" charset="0"/>
                <a:ea typeface="Calibri" pitchFamily="34" charset="-122"/>
                <a:cs typeface="Calibri" pitchFamily="34" charset="-120"/>
              </a:rPr>
              <a:t>Decline in writing. Get legal counsel on the phone. Report to the Council's monitoring officer.</a:t>
            </a:r>
            <a:endParaRPr lang="en-US" sz="13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F1319"/>
        </a:solidFill>
        <a:effectLst/>
      </p:bgPr>
    </p:bg>
    <p:spTree>
      <p:nvGrpSpPr>
        <p:cNvPr id="1" name=""/>
        <p:cNvGrpSpPr/>
        <p:nvPr/>
      </p:nvGrpSpPr>
      <p:grpSpPr>
        <a:xfrm>
          <a:off x="0" y="0"/>
          <a:ext cx="0" cy="0"/>
          <a:chOff x="0" y="0"/>
          <a:chExt cx="0" cy="0"/>
        </a:xfrm>
      </p:grpSpPr>
      <p:sp>
        <p:nvSpPr>
          <p:cNvPr id="2" name="Text 0"/>
          <p:cNvSpPr/>
          <p:nvPr/>
        </p:nvSpPr>
        <p:spPr>
          <a:xfrm>
            <a:off x="502920" y="182880"/>
            <a:ext cx="8046720" cy="256032"/>
          </a:xfrm>
          <a:prstGeom prst="rect">
            <a:avLst/>
          </a:prstGeom>
          <a:noFill/>
          <a:ln/>
        </p:spPr>
        <p:txBody>
          <a:bodyPr wrap="square" lIns="0" tIns="0" rIns="0" bIns="0" rtlCol="0" anchor="ctr"/>
          <a:lstStyle/>
          <a:p>
            <a:pPr marL="0" indent="0" algn="l">
              <a:buNone/>
            </a:pPr>
            <a:r>
              <a:rPr lang="en-US" sz="900" b="1" kern="0" spc="200" dirty="0">
                <a:solidFill>
                  <a:srgbClr val="BF2C1F"/>
                </a:solidFill>
                <a:latin typeface="Calibri" pitchFamily="34" charset="0"/>
                <a:ea typeface="Calibri" pitchFamily="34" charset="-122"/>
                <a:cs typeface="Calibri" pitchFamily="34" charset="-120"/>
              </a:rPr>
              <a:t>REFERENCES</a:t>
            </a:r>
            <a:endParaRPr lang="en-US" sz="900" dirty="0"/>
          </a:p>
        </p:txBody>
      </p:sp>
      <p:sp>
        <p:nvSpPr>
          <p:cNvPr id="3" name="Text 1"/>
          <p:cNvSpPr/>
          <p:nvPr/>
        </p:nvSpPr>
        <p:spPr>
          <a:xfrm>
            <a:off x="502920" y="548640"/>
            <a:ext cx="8046720" cy="4389120"/>
          </a:xfrm>
          <a:prstGeom prst="rect">
            <a:avLst/>
          </a:prstGeom>
          <a:noFill/>
          <a:ln/>
        </p:spPr>
        <p:txBody>
          <a:bodyPr wrap="square" lIns="0" tIns="0" rIns="0" bIns="0" rtlCol="0" anchor="t"/>
          <a:lstStyle/>
          <a:p>
            <a:pPr marL="0" indent="0" algn="l">
              <a:lnSpc>
                <a:spcPct val="135000"/>
              </a:lnSpc>
              <a:buNone/>
            </a:pPr>
            <a:r>
              <a:rPr lang="en-US" sz="1050" dirty="0">
                <a:solidFill>
                  <a:srgbClr val="C8CDD4"/>
                </a:solidFill>
                <a:latin typeface="Calibri" pitchFamily="34" charset="0"/>
                <a:ea typeface="Calibri" pitchFamily="34" charset="-122"/>
                <a:cs typeface="Calibri" pitchFamily="34" charset="-120"/>
              </a:rPr>
              <a:t>Carroll, A.B. (1991) 'The Pyramid of Corporate Social Responsibility: Toward the Moral Management of Organizational Stakeholders', Business Horizons, 34(4), pp. 39–48.</a:t>
            </a:r>
            <a:endParaRPr lang="en-US" sz="1050" dirty="0"/>
          </a:p>
          <a:p>
            <a:pPr>
              <a:lnSpc>
                <a:spcPct val="135000"/>
              </a:lnSpc>
            </a:pPr>
            <a:r>
              <a:rPr lang="en-GB" sz="1050" dirty="0">
                <a:solidFill>
                  <a:srgbClr val="C8CDD4"/>
                </a:solidFill>
                <a:latin typeface="Calibri" pitchFamily="34" charset="0"/>
                <a:ea typeface="Calibri" pitchFamily="34" charset="-122"/>
                <a:cs typeface="Calibri" pitchFamily="34" charset="-120"/>
              </a:rPr>
              <a:t>Crane, A., Matten, D., Glozer, S. and Spence, L. (2019) Business Ethics: Managing Corporate Citizenship and Sustainability in the Age of Globalization.</a:t>
            </a:r>
          </a:p>
          <a:p>
            <a:pPr>
              <a:lnSpc>
                <a:spcPct val="135000"/>
              </a:lnSpc>
            </a:pPr>
            <a:r>
              <a:rPr lang="en-GB" sz="1050" dirty="0">
                <a:solidFill>
                  <a:srgbClr val="C8CDD4"/>
                </a:solidFill>
                <a:latin typeface="Calibri" pitchFamily="34" charset="0"/>
                <a:ea typeface="Calibri" pitchFamily="34" charset="-122"/>
                <a:cs typeface="Calibri" pitchFamily="34" charset="-120"/>
              </a:rPr>
              <a:t>  5th </a:t>
            </a:r>
            <a:r>
              <a:rPr lang="en-GB" sz="1050" dirty="0" err="1">
                <a:solidFill>
                  <a:srgbClr val="C8CDD4"/>
                </a:solidFill>
                <a:latin typeface="Calibri" pitchFamily="34" charset="0"/>
                <a:ea typeface="Calibri" pitchFamily="34" charset="-122"/>
                <a:cs typeface="Calibri" pitchFamily="34" charset="-120"/>
              </a:rPr>
              <a:t>edn</a:t>
            </a:r>
            <a:r>
              <a:rPr lang="en-GB" sz="1050" dirty="0">
                <a:solidFill>
                  <a:srgbClr val="C8CDD4"/>
                </a:solidFill>
                <a:latin typeface="Calibri" pitchFamily="34" charset="0"/>
                <a:ea typeface="Calibri" pitchFamily="34" charset="-122"/>
                <a:cs typeface="Calibri" pitchFamily="34" charset="-120"/>
              </a:rPr>
              <a:t>. Oxford: Oxford University Press</a:t>
            </a:r>
            <a:r>
              <a:rPr lang="en-US" sz="1050" dirty="0">
                <a:solidFill>
                  <a:srgbClr val="C8CDD4"/>
                </a:solidFill>
                <a:latin typeface="Calibri" pitchFamily="34" charset="0"/>
                <a:ea typeface="Calibri" pitchFamily="34" charset="-122"/>
                <a:cs typeface="Calibri" pitchFamily="34" charset="-120"/>
              </a:rPr>
              <a:t>Fisher, C. and Lovell, A. (2009) Business Ethics and Values: Individual, Corporate and International Perspectives. 3rd edn. Harlow: Pearson Education.</a:t>
            </a:r>
            <a:endParaRPr lang="en-US" sz="1050" dirty="0"/>
          </a:p>
          <a:p>
            <a:pPr marL="0" indent="0" algn="l">
              <a:lnSpc>
                <a:spcPct val="135000"/>
              </a:lnSpc>
              <a:buNone/>
            </a:pPr>
            <a:r>
              <a:rPr lang="en-US" sz="1050" dirty="0">
                <a:solidFill>
                  <a:srgbClr val="C8CDD4"/>
                </a:solidFill>
                <a:latin typeface="Calibri" pitchFamily="34" charset="0"/>
                <a:ea typeface="Calibri" pitchFamily="34" charset="-122"/>
                <a:cs typeface="Calibri" pitchFamily="34" charset="-120"/>
              </a:rPr>
              <a:t>Freeman, R.E. (1984) Strategic Management: A Stakeholder Approach. Boston: Pitman.</a:t>
            </a:r>
            <a:endParaRPr lang="en-US" sz="1050" dirty="0"/>
          </a:p>
          <a:p>
            <a:pPr marL="0" indent="0" algn="l">
              <a:lnSpc>
                <a:spcPct val="135000"/>
              </a:lnSpc>
              <a:buNone/>
            </a:pPr>
            <a:r>
              <a:rPr lang="en-US" sz="1050" dirty="0">
                <a:solidFill>
                  <a:srgbClr val="C8CDD4"/>
                </a:solidFill>
                <a:latin typeface="Calibri" pitchFamily="34" charset="0"/>
                <a:ea typeface="Calibri" pitchFamily="34" charset="-122"/>
                <a:cs typeface="Calibri" pitchFamily="34" charset="-120"/>
              </a:rPr>
              <a:t>HM Government (2010) Bribery Act 2010. London: The Stationery Office. Available at: https://www.legislation.gov.uk/ukpga/2010/23/contents (Accessed: 19 March 2026).</a:t>
            </a:r>
            <a:endParaRPr lang="en-US" sz="1050" dirty="0"/>
          </a:p>
          <a:p>
            <a:pPr marL="0" indent="0" algn="l">
              <a:lnSpc>
                <a:spcPct val="135000"/>
              </a:lnSpc>
              <a:buNone/>
            </a:pPr>
            <a:r>
              <a:rPr lang="en-US" sz="1050" dirty="0">
                <a:solidFill>
                  <a:srgbClr val="C8CDD4"/>
                </a:solidFill>
                <a:latin typeface="Calibri" pitchFamily="34" charset="0"/>
                <a:ea typeface="Calibri" pitchFamily="34" charset="-122"/>
                <a:cs typeface="Calibri" pitchFamily="34" charset="-120"/>
              </a:rPr>
              <a:t>HM Government (2023) Procurement Act 2023. London: The Stationery Office. Available at: https://www.legislation.gov.uk/ukpga/2023/54/contents (Accessed: 19 March 2026).</a:t>
            </a:r>
            <a:endParaRPr lang="en-US" sz="1050" dirty="0"/>
          </a:p>
          <a:p>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132</TotalTime>
  <Words>2395</Words>
  <Application>Microsoft Office PowerPoint</Application>
  <PresentationFormat>On-screen Show (16:9)</PresentationFormat>
  <Paragraphs>170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Procurement Ethics Advisory Presentation</dc:title>
  <dc:subject>FA565 Business Ethics Assessment</dc:subject>
  <dc:creator/>
  <cp:lastModifiedBy>Zohaib Shahzada (student)</cp:lastModifiedBy>
  <cp:revision>5</cp:revision>
  <dcterms:created xsi:type="dcterms:W3CDTF">2026-03-17T14:22:11Z</dcterms:created>
  <dcterms:modified xsi:type="dcterms:W3CDTF">2026-03-20T11:24:49Z</dcterms:modified>
</cp:coreProperties>
</file>